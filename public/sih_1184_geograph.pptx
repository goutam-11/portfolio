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Conceptual basis: existing 14-character ULPIN remains the root identity. Proposed child identifiers add a volume marker, base/top elevation, use class and tenure. Reference models: DoLR ULPIN/Bhu-Aadhaar, ISO 19152 LADM Part 2 and OGC CityGML 3.0.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Technology choices from the source deck: TypeScript, React, Vite, Tailwind, MapLibre GL, Three.js/deck.gl, PostGIS, Turf.js, Node/Fastify, Rust ID codec, WebSocket/SSE, GeoJSON, CityGML 3.0 and LADM.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Process from source deck: ingest CORS/GNSS, imagery, DEM/DSM and GIS parcels; survey the footprint and bind the root ULPIN; digitise floor plans; extrude volumes; issue an ID; validate overlap and write to an append-only registry.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Feasibility and risk framing from the source deck: extend the existing ULPIN layer; use CORS/GNSS, floor plans, drone/LiDAR tiles, DEM/DSM and GIS parcel layers; normalize vertical datum, assist digitisation, use state-pluggable DCR fields, apply tolerance bands and write append-only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References from the source deck: dolr.gov.in; surveyofindia.gov.in; sih.gov.in; iso.org/standard/81263.html; iso.org/standard/81264.html; ogc.org/standard/citygml. The metric labels preserve the source deck's cited context and should be rechecked against the latest official publications before final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914400" y="2130427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94677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 /><Relationship Id="rId3" Type="http://schemas.openxmlformats.org/officeDocument/2006/relationships/image" Target="../media/image2.png" /><Relationship Id="rId7" Type="http://schemas.openxmlformats.org/officeDocument/2006/relationships/image" Target="../media/image6.sv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svg" /><Relationship Id="rId5" Type="http://schemas.openxmlformats.org/officeDocument/2006/relationships/image" Target="../media/image4.svg" /><Relationship Id="rId4" Type="http://schemas.openxmlformats.org/officeDocument/2006/relationships/image" Target="../media/image3.svg" /><Relationship Id="rId9" Type="http://schemas.openxmlformats.org/officeDocument/2006/relationships/image" Target="../media/image8.sv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Freeform: Shape 26"/>
          <p:cNvSpPr/>
          <p:nvPr/>
        </p:nvSpPr>
        <p:spPr>
          <a:xfrm>
            <a:off x="5656780" y="851520"/>
            <a:ext cx="4638605" cy="51549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/>
          <a:srcRect r="59916"/>
          <a:stretch>
            <a:fillRect/>
          </a:stretch>
        </p:blipFill>
        <p:spPr>
          <a:xfrm>
            <a:off x="6854890" y="1715880"/>
            <a:ext cx="3203510" cy="3426238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itle 7"/>
          <p:cNvSpPr txBox="1">
            <a:spLocks noGrp="1"/>
          </p:cNvSpPr>
          <p:nvPr>
            <p:ph type="ctrTitle"/>
          </p:nvPr>
        </p:nvSpPr>
        <p:spPr>
          <a:xfrm>
            <a:off x="155510" y="225262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r>
              <a:t>SMART INDIA HACKATHON 2026</a:t>
            </a:r>
          </a:p>
        </p:txBody>
      </p:sp>
      <p:sp>
        <p:nvSpPr>
          <p:cNvPr id="98" name="TextBox 9"/>
          <p:cNvSpPr txBox="1"/>
          <p:nvPr/>
        </p:nvSpPr>
        <p:spPr>
          <a:xfrm>
            <a:off x="259987" y="2178874"/>
            <a:ext cx="5181601" cy="320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285750" indent="-285750">
              <a:lnSpc>
                <a:spcPct val="104999"/>
              </a:lnSpc>
              <a:spcBef>
                <a:spcPts val="900"/>
              </a:spcBef>
              <a:buClr>
                <a:srgbClr val="0070C0"/>
              </a:buClr>
              <a:buSzPct val="90000"/>
              <a:buFont typeface="Arial"/>
              <a:buChar char="•"/>
              <a:defRPr b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 Statement ID – </a:t>
            </a:r>
            <a:r>
              <a:rPr>
                <a:solidFill>
                  <a:srgbClr val="0070C0"/>
                </a:solidFill>
              </a:rPr>
              <a:t>26011</a:t>
            </a:r>
          </a:p>
          <a:p>
            <a:pPr marL="285750" indent="-285750">
              <a:lnSpc>
                <a:spcPct val="104999"/>
              </a:lnSpc>
              <a:spcBef>
                <a:spcPts val="900"/>
              </a:spcBef>
              <a:buClr>
                <a:srgbClr val="0070C0"/>
              </a:buClr>
              <a:buSzPct val="90000"/>
              <a:buFont typeface="Arial"/>
              <a:buChar char="•"/>
              <a:defRPr b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Problem Statement Title – </a:t>
            </a:r>
            <a:r>
              <a:rPr>
                <a:solidFill>
                  <a:srgbClr val="0070C0"/>
                </a:solidFill>
              </a:rPr>
              <a:t>3D ULPIN Generation and Vertical Property Mapping System</a:t>
            </a:r>
          </a:p>
          <a:p>
            <a:pPr marL="285750" indent="-285750">
              <a:lnSpc>
                <a:spcPct val="104999"/>
              </a:lnSpc>
              <a:spcBef>
                <a:spcPts val="900"/>
              </a:spcBef>
              <a:buClr>
                <a:srgbClr val="0070C0"/>
              </a:buClr>
              <a:buSzPct val="90000"/>
              <a:buFont typeface="Arial"/>
              <a:buChar char="•"/>
              <a:defRPr b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Theme – </a:t>
            </a:r>
            <a:r>
              <a:rPr>
                <a:solidFill>
                  <a:srgbClr val="0070C0"/>
                </a:solidFill>
              </a:rPr>
              <a:t>Space Technology</a:t>
            </a:r>
          </a:p>
          <a:p>
            <a:pPr marL="285750" indent="-285750">
              <a:lnSpc>
                <a:spcPct val="104999"/>
              </a:lnSpc>
              <a:spcBef>
                <a:spcPts val="900"/>
              </a:spcBef>
              <a:buClr>
                <a:srgbClr val="0070C0"/>
              </a:buClr>
              <a:buSzPct val="90000"/>
              <a:buFont typeface="Arial"/>
              <a:buChar char="•"/>
              <a:defRPr b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PS Category – </a:t>
            </a:r>
            <a:r>
              <a:rPr>
                <a:solidFill>
                  <a:srgbClr val="0070C0"/>
                </a:solidFill>
              </a:rPr>
              <a:t>Software</a:t>
            </a:r>
          </a:p>
          <a:p>
            <a:pPr marL="285750" indent="-285750">
              <a:lnSpc>
                <a:spcPct val="104999"/>
              </a:lnSpc>
              <a:spcBef>
                <a:spcPts val="900"/>
              </a:spcBef>
              <a:buClr>
                <a:srgbClr val="0070C0"/>
              </a:buClr>
              <a:buSzPct val="90000"/>
              <a:buFont typeface="Arial"/>
              <a:buChar char="•"/>
              <a:defRPr b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Team ID – </a:t>
            </a:r>
            <a:r>
              <a:rPr>
                <a:solidFill>
                  <a:srgbClr val="0070C0"/>
                </a:solidFill>
              </a:rPr>
              <a:t>SIH_1184 GeoGraph</a:t>
            </a:r>
          </a:p>
          <a:p>
            <a:pPr marL="285750" indent="-285750">
              <a:lnSpc>
                <a:spcPct val="104999"/>
              </a:lnSpc>
              <a:spcBef>
                <a:spcPts val="900"/>
              </a:spcBef>
              <a:buClr>
                <a:srgbClr val="0070C0"/>
              </a:buClr>
              <a:buSzPct val="90000"/>
              <a:buFont typeface="Arial"/>
              <a:buChar char="•"/>
              <a:defRPr b="1">
                <a:solidFill>
                  <a:srgbClr val="1F2A37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Team Name – </a:t>
            </a:r>
            <a:r>
              <a:rPr>
                <a:solidFill>
                  <a:srgbClr val="0070C0"/>
                </a:solidFill>
              </a:rPr>
              <a:t>GeoGraph</a:t>
            </a:r>
          </a:p>
        </p:txBody>
      </p:sp>
      <p:pic>
        <p:nvPicPr>
          <p:cNvPr id="99" name="Picture 1" descr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7975" y="-19701"/>
            <a:ext cx="2249851" cy="106233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7524042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3FDF520-D8BD-478E-9716-6450CA304E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78C5"/>
          </a:solidFill>
          <a:ln w="0">
            <a:solidFill>
              <a:srgbClr val="0B78C5"/>
            </a:solidFill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8D6A359-24B9-42A8-A9A7-AC535C10A5A6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04CCD1-0FCF-4069-8CEC-757E44B9386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CDB458-680E-45A3-B9C6-9288A74D39BE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gap: ULPIN identifies land, while buildings occupy volume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62D68D-C7F2-4868-9E86-FAFCF173EA11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 2D parcel identifier cannot distinguish legally different spaces stacked over the same footprint.</a:t>
            </a: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83809" y="114300"/>
            <a:ext cx="1654132" cy="78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9055EE-F629-42FB-BC6C-E7B3B0C755E8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CD5075-0CE4-47E3-A93E-4741F9D749CB}"/>
              </a:ext>
            </a:extLst>
          </p:cNvPr>
          <p:cNvSpPr>
            <a:spLocks noGrp="1"/>
          </p:cNvSpPr>
          <p:nvPr/>
        </p:nvSpPr>
        <p:spPr>
          <a:xfrm>
            <a:off x="457200" y="6638925"/>
            <a:ext cx="5715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INDIA HACKATHON 2026   |   TEAM GEOGRAPH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19D4FD-C314-417E-A2DB-73E08809A7CA}"/>
              </a:ext>
            </a:extLst>
          </p:cNvPr>
          <p:cNvSpPr>
            <a:spLocks noGrp="1"/>
          </p:cNvSpPr>
          <p:nvPr/>
        </p:nvSpPr>
        <p:spPr>
          <a:xfrm>
            <a:off x="11239500" y="661987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E9B6C1-8A7A-442A-8CFE-B7715A701015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CURRENT LIMITATION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6A33C77-3D1C-44EF-8EB5-144E2ED2342E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4572000" cy="3867150"/>
          </a:xfrm>
          <a:prstGeom prst="roundRect">
            <a:avLst>
              <a:gd name="adj" fmla="val 4433"/>
            </a:avLst>
          </a:prstGeom>
          <a:solidFill>
            <a:srgbClr val="FFFFFF"/>
          </a:solidFill>
          <a:ln w="11430">
            <a:solidFill>
              <a:srgbClr val="E3B5B5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ED9084-FD5C-40FE-985C-1E6B3D21BCB4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One surface parcel, many claims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25F6E-B165-4496-B497-6EC8DCB5DD72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4000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6000"/>
              </a:lnSpc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The existing ULPIN is a strong root identity for the surface parcel.</a:t>
            </a:r>
          </a:p>
          <a:p>
            <a:pPr algn="l">
              <a:lnSpc>
                <a:spcPct val="116000"/>
              </a:lnSpc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Flats, basements, podiums, tunnels and air rights can share the same 2D footprint.</a:t>
            </a:r>
          </a:p>
          <a:p>
            <a:pPr algn="l">
              <a:lnSpc>
                <a:spcPct val="116000"/>
              </a:lnSpc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A deed or plan may describe height and use, but the parcel ID does not encode them.</a:t>
            </a:r>
          </a:p>
          <a:p>
            <a:pPr algn="l">
              <a:lnSpc>
                <a:spcPct val="116000"/>
              </a:lnSpc>
              <a:buNone/>
              <a:defRPr sz="112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Overlap is discovered late, during registration, financing or dispute resolution.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E9D087-2CB5-423A-96EB-8FA309048997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4000500" cy="609600"/>
          </a:xfrm>
          <a:prstGeom prst="roundRect">
            <a:avLst>
              <a:gd name="adj" fmla="val 18750"/>
            </a:avLst>
          </a:prstGeom>
          <a:solidFill>
            <a:srgbClr val="FCECEC"/>
          </a:solidFill>
          <a:ln w="9525">
            <a:solidFill>
              <a:srgbClr val="E3B5B5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FB9942-250A-428E-923A-1DA4F1DF1A7D}"/>
              </a:ext>
            </a:extLst>
          </p:cNvPr>
          <p:cNvSpPr>
            <a:spLocks noGrp="1"/>
          </p:cNvSpPr>
          <p:nvPr/>
        </p:nvSpPr>
        <p:spPr>
          <a:xfrm>
            <a:off x="838200" y="5038725"/>
            <a:ext cx="3695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4639"/>
          </a:bodyPr>
          <a:lstStyle/>
          <a:p>
            <a:pPr algn="l">
              <a:lnSpc>
                <a:spcPct val="103000"/>
              </a:lnSpc>
              <a:buNone/>
              <a:defRPr sz="1050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Problem signal</a:t>
            </a:r>
          </a:p>
          <a:p>
            <a:pPr algn="l">
              <a:lnSpc>
                <a:spcPct val="103000"/>
              </a:lnSpc>
              <a:buNone/>
              <a:defRPr sz="1050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Same ground footprint does not mean same property volume.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F9ED5F-A5EA-430B-AEDB-ECAF0D862927}"/>
              </a:ext>
            </a:extLst>
          </p:cNvPr>
          <p:cNvSpPr>
            <a:spLocks noGrp="1"/>
          </p:cNvSpPr>
          <p:nvPr/>
        </p:nvSpPr>
        <p:spPr>
          <a:xfrm>
            <a:off x="5619750" y="1676400"/>
            <a:ext cx="21907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PROPOSED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081F67-DB6C-48E1-B786-B5BA55B4EDF9}"/>
              </a:ext>
            </a:extLst>
          </p:cNvPr>
          <p:cNvSpPr>
            <a:spLocks noGrp="1"/>
          </p:cNvSpPr>
          <p:nvPr/>
        </p:nvSpPr>
        <p:spPr>
          <a:xfrm>
            <a:off x="5619750" y="194310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Root ULPIN + volumetric child IDs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DF2070-4F58-4809-A4DA-CEFEDF8CFB0F}"/>
              </a:ext>
            </a:extLst>
          </p:cNvPr>
          <p:cNvSpPr>
            <a:spLocks noGrp="1"/>
          </p:cNvSpPr>
          <p:nvPr/>
        </p:nvSpPr>
        <p:spPr>
          <a:xfrm>
            <a:off x="5619750" y="226695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Each register entry combines footprint, elevation range, use class, tenure and right holder.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CE617BE-6534-45B1-9056-3BA91388A09E}"/>
              </a:ext>
            </a:extLst>
          </p:cNvPr>
          <p:cNvSpPr>
            <a:spLocks noGrp="1"/>
          </p:cNvSpPr>
          <p:nvPr/>
        </p:nvSpPr>
        <p:spPr>
          <a:xfrm>
            <a:off x="6743700" y="2609850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FFF4E3"/>
          </a:solidFill>
          <a:ln w="11430">
            <a:solidFill>
              <a:srgbClr val="BFD6EA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883088-5CE0-49C0-84C4-23DA8CBD241F}"/>
              </a:ext>
            </a:extLst>
          </p:cNvPr>
          <p:cNvSpPr>
            <a:spLocks noGrp="1"/>
          </p:cNvSpPr>
          <p:nvPr/>
        </p:nvSpPr>
        <p:spPr>
          <a:xfrm>
            <a:off x="6877050" y="2676525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A8641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86412"/>
                </a:solidFill>
                <a:latin typeface="Arial"/>
                <a:ea typeface="Arial"/>
                <a:cs typeface="Arial"/>
              </a:rPr>
              <a:t>AIR RIGHTS / TDR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AC71F9-1496-4031-9CC7-03A730B31C02}"/>
              </a:ext>
            </a:extLst>
          </p:cNvPr>
          <p:cNvSpPr>
            <a:spLocks noGrp="1"/>
          </p:cNvSpPr>
          <p:nvPr/>
        </p:nvSpPr>
        <p:spPr>
          <a:xfrm>
            <a:off x="8877300" y="2676525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A8641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86412"/>
                </a:solidFill>
                <a:latin typeface="Arial"/>
                <a:ea typeface="Arial"/>
                <a:cs typeface="Arial"/>
              </a:rPr>
              <a:t>above +32.0 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2DC0437-5583-412A-BC10-7CC4F8C16E84}"/>
              </a:ext>
            </a:extLst>
          </p:cNvPr>
          <p:cNvSpPr>
            <a:spLocks noGrp="1"/>
          </p:cNvSpPr>
          <p:nvPr/>
        </p:nvSpPr>
        <p:spPr>
          <a:xfrm>
            <a:off x="6743700" y="3019425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B84E83-7B4A-4341-84FD-BE332424420D}"/>
              </a:ext>
            </a:extLst>
          </p:cNvPr>
          <p:cNvSpPr>
            <a:spLocks noGrp="1"/>
          </p:cNvSpPr>
          <p:nvPr/>
        </p:nvSpPr>
        <p:spPr>
          <a:xfrm>
            <a:off x="6877050" y="30861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FLAT 402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396481-A6C5-456E-82E0-1D0BC6623295}"/>
              </a:ext>
            </a:extLst>
          </p:cNvPr>
          <p:cNvSpPr>
            <a:spLocks noGrp="1"/>
          </p:cNvSpPr>
          <p:nvPr/>
        </p:nvSpPr>
        <p:spPr>
          <a:xfrm>
            <a:off x="8877300" y="3086100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26.9 m to 30.1 m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2E52647-20FB-4B00-A6BD-902F0D9AEE2F}"/>
              </a:ext>
            </a:extLst>
          </p:cNvPr>
          <p:cNvSpPr>
            <a:spLocks noGrp="1"/>
          </p:cNvSpPr>
          <p:nvPr/>
        </p:nvSpPr>
        <p:spPr>
          <a:xfrm>
            <a:off x="6743700" y="3429000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0B3D6E"/>
          </a:solidFill>
          <a:ln w="11430">
            <a:solidFill>
              <a:srgbClr val="0B3D6E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87C881-D2F5-4A28-92A6-2BAB190C9C67}"/>
              </a:ext>
            </a:extLst>
          </p:cNvPr>
          <p:cNvSpPr>
            <a:spLocks noGrp="1"/>
          </p:cNvSpPr>
          <p:nvPr/>
        </p:nvSpPr>
        <p:spPr>
          <a:xfrm>
            <a:off x="6877050" y="3495675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FLAT 302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0FDDA7-9128-431A-9B6B-483700A47D79}"/>
              </a:ext>
            </a:extLst>
          </p:cNvPr>
          <p:cNvSpPr>
            <a:spLocks noGrp="1"/>
          </p:cNvSpPr>
          <p:nvPr/>
        </p:nvSpPr>
        <p:spPr>
          <a:xfrm>
            <a:off x="8877300" y="3495675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23.7 m to 26.9 m  ·  3D ULPIN issued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1A12199-246F-45A7-BA2E-F72F81C47F21}"/>
              </a:ext>
            </a:extLst>
          </p:cNvPr>
          <p:cNvSpPr>
            <a:spLocks noGrp="1"/>
          </p:cNvSpPr>
          <p:nvPr/>
        </p:nvSpPr>
        <p:spPr>
          <a:xfrm>
            <a:off x="6743700" y="3838575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AABA79-75D2-4973-AC9C-406EB0321C9D}"/>
              </a:ext>
            </a:extLst>
          </p:cNvPr>
          <p:cNvSpPr>
            <a:spLocks noGrp="1"/>
          </p:cNvSpPr>
          <p:nvPr/>
        </p:nvSpPr>
        <p:spPr>
          <a:xfrm>
            <a:off x="6877050" y="390525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PODIUM + COMMERCIAL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FB36D4-31FF-4C45-B753-52BD9E775693}"/>
              </a:ext>
            </a:extLst>
          </p:cNvPr>
          <p:cNvSpPr>
            <a:spLocks noGrp="1"/>
          </p:cNvSpPr>
          <p:nvPr/>
        </p:nvSpPr>
        <p:spPr>
          <a:xfrm>
            <a:off x="8877300" y="3905250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4.5 m to 23.7 m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B921C04-9663-46B0-BB7F-FD2BC77D2343}"/>
              </a:ext>
            </a:extLst>
          </p:cNvPr>
          <p:cNvSpPr>
            <a:spLocks noGrp="1"/>
          </p:cNvSpPr>
          <p:nvPr/>
        </p:nvSpPr>
        <p:spPr>
          <a:xfrm>
            <a:off x="6743700" y="4248150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E7F4ED"/>
          </a:solidFill>
          <a:ln w="11430">
            <a:solidFill>
              <a:srgbClr val="BFD6EA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F8B608-3C9D-485D-B82C-78049ADA46A4}"/>
              </a:ext>
            </a:extLst>
          </p:cNvPr>
          <p:cNvSpPr>
            <a:spLocks noGrp="1"/>
          </p:cNvSpPr>
          <p:nvPr/>
        </p:nvSpPr>
        <p:spPr>
          <a:xfrm>
            <a:off x="6877050" y="4314825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SURFACE PARCEL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67FFD81-383C-4E6F-BFD8-9A302D4D9645}"/>
              </a:ext>
            </a:extLst>
          </p:cNvPr>
          <p:cNvSpPr>
            <a:spLocks noGrp="1"/>
          </p:cNvSpPr>
          <p:nvPr/>
        </p:nvSpPr>
        <p:spPr>
          <a:xfrm>
            <a:off x="8877300" y="4314825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root ULPIN at 0.0 m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41F2A78-3829-4B81-B328-012651B85CC9}"/>
              </a:ext>
            </a:extLst>
          </p:cNvPr>
          <p:cNvSpPr>
            <a:spLocks noGrp="1"/>
          </p:cNvSpPr>
          <p:nvPr/>
        </p:nvSpPr>
        <p:spPr>
          <a:xfrm>
            <a:off x="6743700" y="4657725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EAF3FA"/>
          </a:solidFill>
          <a:ln w="11430">
            <a:solidFill>
              <a:srgbClr val="BFD6EA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C843D2-3530-47AA-9D42-46D540A3BE0C}"/>
              </a:ext>
            </a:extLst>
          </p:cNvPr>
          <p:cNvSpPr>
            <a:spLocks noGrp="1"/>
          </p:cNvSpPr>
          <p:nvPr/>
        </p:nvSpPr>
        <p:spPr>
          <a:xfrm>
            <a:off x="6877050" y="47244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BASEMENT PARKING B1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0841AC7-BF3B-45DB-8AFA-87C8348E04F3}"/>
              </a:ext>
            </a:extLst>
          </p:cNvPr>
          <p:cNvSpPr>
            <a:spLocks noGrp="1"/>
          </p:cNvSpPr>
          <p:nvPr/>
        </p:nvSpPr>
        <p:spPr>
          <a:xfrm>
            <a:off x="8877300" y="4724400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−3.2 m to 0.0 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BD32EE9-1679-4CDA-B640-DC7629B4273A}"/>
              </a:ext>
            </a:extLst>
          </p:cNvPr>
          <p:cNvSpPr>
            <a:spLocks noGrp="1"/>
          </p:cNvSpPr>
          <p:nvPr/>
        </p:nvSpPr>
        <p:spPr>
          <a:xfrm>
            <a:off x="6743700" y="5067300"/>
            <a:ext cx="4248150" cy="323850"/>
          </a:xfrm>
          <a:prstGeom prst="roundRect">
            <a:avLst>
              <a:gd name="adj" fmla="val 29412"/>
            </a:avLst>
          </a:prstGeom>
          <a:solidFill>
            <a:srgbClr val="EEF1F4"/>
          </a:solidFill>
          <a:ln w="11430">
            <a:solidFill>
              <a:srgbClr val="BFD6EA"/>
            </a:solidFill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2FF65A-E7C1-4EB3-BF5F-38784CCC45A2}"/>
              </a:ext>
            </a:extLst>
          </p:cNvPr>
          <p:cNvSpPr>
            <a:spLocks noGrp="1"/>
          </p:cNvSpPr>
          <p:nvPr/>
        </p:nvSpPr>
        <p:spPr>
          <a:xfrm>
            <a:off x="6877050" y="5133975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825" b="1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METRO / UTILITY CORRIDOR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113059-BBC5-4841-A669-01E3C1FA790A}"/>
              </a:ext>
            </a:extLst>
          </p:cNvPr>
          <p:cNvSpPr>
            <a:spLocks noGrp="1"/>
          </p:cNvSpPr>
          <p:nvPr/>
        </p:nvSpPr>
        <p:spPr>
          <a:xfrm>
            <a:off x="8877300" y="5133975"/>
            <a:ext cx="19431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below −18.0 m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0356324-BC2A-44AA-B187-8C6E263A84D0}"/>
              </a:ext>
            </a:extLst>
          </p:cNvPr>
          <p:cNvSpPr>
            <a:spLocks noGrp="1"/>
          </p:cNvSpPr>
          <p:nvPr/>
        </p:nvSpPr>
        <p:spPr>
          <a:xfrm>
            <a:off x="5619750" y="5619750"/>
            <a:ext cx="5810250" cy="342900"/>
          </a:xfrm>
          <a:prstGeom prst="roundRect">
            <a:avLst>
              <a:gd name="adj" fmla="val 33333"/>
            </a:avLst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3D3E89-92F8-4803-8C7A-72BE990BDD67}"/>
              </a:ext>
            </a:extLst>
          </p:cNvPr>
          <p:cNvSpPr>
            <a:spLocks noGrp="1"/>
          </p:cNvSpPr>
          <p:nvPr/>
        </p:nvSpPr>
        <p:spPr>
          <a:xfrm>
            <a:off x="5772150" y="5686425"/>
            <a:ext cx="55054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outcome  ·  a conflict becomes a geometry check before registration</a:t>
            </a:r>
          </a:p>
        </p:txBody>
      </p:sp>
    </p:spTree>
    <p:extLst>
      <p:ext uri="{BB962C8B-B14F-4D97-AF65-F5344CB8AC3E}">
        <p14:creationId xmlns:p14="http://schemas.microsoft.com/office/powerpoint/2010/main" val="214384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C46B6349-542C-4913-A15B-B52176B201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78C5"/>
          </a:solidFill>
          <a:ln w="0">
            <a:solidFill>
              <a:srgbClr val="0B78C5"/>
            </a:solidFill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0F05158-F694-4BD9-BB87-5CC8EB749537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59704C-C2A2-4F39-B7C5-F6176BB3F3D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9DF299-498B-416A-B3D2-4B9403EDCF52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data model powers the map, 3D view and registry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D6319B-3DAA-494A-8310-83CC19F9C105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The proof-of-concept uses a live spatial pipeline with an identifier that can be validated offline.</a:t>
            </a: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83809" y="114300"/>
            <a:ext cx="1654132" cy="78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5B6F8B5-CAB1-47A7-9D35-174D64647114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7C6290-A51F-4F41-B84C-72313B71C4B5}"/>
              </a:ext>
            </a:extLst>
          </p:cNvPr>
          <p:cNvSpPr>
            <a:spLocks noGrp="1"/>
          </p:cNvSpPr>
          <p:nvPr/>
        </p:nvSpPr>
        <p:spPr>
          <a:xfrm>
            <a:off x="457200" y="6638925"/>
            <a:ext cx="5715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INDIA HACKATHON 2026   |   TEAM GEOGRAPH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F87B7E-B156-454C-A170-E55103D400F2}"/>
              </a:ext>
            </a:extLst>
          </p:cNvPr>
          <p:cNvSpPr>
            <a:spLocks noGrp="1"/>
          </p:cNvSpPr>
          <p:nvPr/>
        </p:nvSpPr>
        <p:spPr>
          <a:xfrm>
            <a:off x="11239500" y="661987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BAD20F-DF49-41E8-98F0-87EE17705413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2AB402F-7517-44AC-BDC9-391E69E87902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17145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2FEC507-D665-49E0-B3E7-833E9AA56CBB}"/>
              </a:ext>
            </a:extLst>
          </p:cNvPr>
          <p:cNvSpPr>
            <a:spLocks noGrp="1"/>
          </p:cNvSpPr>
          <p:nvPr/>
        </p:nvSpPr>
        <p:spPr>
          <a:xfrm>
            <a:off x="590550" y="2114550"/>
            <a:ext cx="400050" cy="400050"/>
          </a:xfrm>
          <a:prstGeom prst="ellipse">
            <a:avLst/>
          </a:prstGeom>
          <a:solidFill>
            <a:srgbClr val="EAF3FA"/>
          </a:solidFill>
          <a:ln w="9525">
            <a:solidFill>
              <a:srgbClr val="BFD6EA"/>
            </a:solidFill>
          </a:ln>
        </p:spPr>
      </p:sp>
      <p:pic>
        <p:nvPicPr>
          <p:cNvPr id="70" name="Graphic 6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2209800"/>
            <a:ext cx="209550" cy="2095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454F45F-7A91-46EC-95F0-2D7D2E213906}"/>
              </a:ext>
            </a:extLst>
          </p:cNvPr>
          <p:cNvSpPr>
            <a:spLocks noGrp="1"/>
          </p:cNvSpPr>
          <p:nvPr/>
        </p:nvSpPr>
        <p:spPr>
          <a:xfrm>
            <a:off x="1085850" y="2095500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Web + UI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57CBE8-9DD8-4DF6-A59C-315F732007A2}"/>
              </a:ext>
            </a:extLst>
          </p:cNvPr>
          <p:cNvSpPr>
            <a:spLocks noGrp="1"/>
          </p:cNvSpPr>
          <p:nvPr/>
        </p:nvSpPr>
        <p:spPr>
          <a:xfrm>
            <a:off x="1085850" y="236220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TypeScript · React · Vite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039CAE9-89BE-41BA-979A-68380B449A89}"/>
              </a:ext>
            </a:extLst>
          </p:cNvPr>
          <p:cNvSpPr>
            <a:spLocks noGrp="1"/>
          </p:cNvSpPr>
          <p:nvPr/>
        </p:nvSpPr>
        <p:spPr>
          <a:xfrm>
            <a:off x="2286000" y="1943100"/>
            <a:ext cx="17145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473108-4834-483A-8923-83EB9AEC4051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400050" cy="400050"/>
          </a:xfrm>
          <a:prstGeom prst="ellipse">
            <a:avLst/>
          </a:prstGeom>
          <a:solidFill>
            <a:srgbClr val="EAF3FA"/>
          </a:solidFill>
          <a:ln w="9525">
            <a:solidFill>
              <a:srgbClr val="BFD6EA"/>
            </a:solidFill>
          </a:ln>
        </p:spPr>
      </p:sp>
      <p:pic>
        <p:nvPicPr>
          <p:cNvPr id="75" name="Graphic 7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2514600" y="2209800"/>
            <a:ext cx="209550" cy="2095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E48B13C-4146-46CC-8587-699B450A1AD2}"/>
              </a:ext>
            </a:extLst>
          </p:cNvPr>
          <p:cNvSpPr>
            <a:spLocks noGrp="1"/>
          </p:cNvSpPr>
          <p:nvPr/>
        </p:nvSpPr>
        <p:spPr>
          <a:xfrm>
            <a:off x="2914650" y="2095500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983"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E8B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8B83"/>
                </a:solidFill>
                <a:latin typeface="Arial"/>
                <a:ea typeface="Arial"/>
                <a:cs typeface="Arial"/>
              </a:rPr>
              <a:t>Design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6A49A0-6C92-4703-8E09-C1DD840D7783}"/>
              </a:ext>
            </a:extLst>
          </p:cNvPr>
          <p:cNvSpPr>
            <a:spLocks noGrp="1"/>
          </p:cNvSpPr>
          <p:nvPr/>
        </p:nvSpPr>
        <p:spPr>
          <a:xfrm>
            <a:off x="2914650" y="236220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Tailwind CSS · responsive surfaces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249A626-DDB7-4944-8785-575B10551874}"/>
              </a:ext>
            </a:extLst>
          </p:cNvPr>
          <p:cNvSpPr>
            <a:spLocks noGrp="1"/>
          </p:cNvSpPr>
          <p:nvPr/>
        </p:nvSpPr>
        <p:spPr>
          <a:xfrm>
            <a:off x="4114800" y="1943100"/>
            <a:ext cx="17145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355C54D-33BD-405C-AB04-D17DDC425176}"/>
              </a:ext>
            </a:extLst>
          </p:cNvPr>
          <p:cNvSpPr>
            <a:spLocks noGrp="1"/>
          </p:cNvSpPr>
          <p:nvPr/>
        </p:nvSpPr>
        <p:spPr>
          <a:xfrm>
            <a:off x="4248150" y="2114550"/>
            <a:ext cx="400050" cy="400050"/>
          </a:xfrm>
          <a:prstGeom prst="ellipse">
            <a:avLst/>
          </a:prstGeom>
          <a:solidFill>
            <a:srgbClr val="EAF3FA"/>
          </a:solidFill>
          <a:ln w="9525">
            <a:solidFill>
              <a:srgbClr val="BFD6EA"/>
            </a:solidFill>
          </a:ln>
        </p:spPr>
      </p:sp>
      <p:pic>
        <p:nvPicPr>
          <p:cNvPr id="80" name="Graphic 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43400" y="2209800"/>
            <a:ext cx="209550" cy="2095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43C2CB4-99FA-45D0-B036-27F00D81D790}"/>
              </a:ext>
            </a:extLst>
          </p:cNvPr>
          <p:cNvSpPr>
            <a:spLocks noGrp="1"/>
          </p:cNvSpPr>
          <p:nvPr/>
        </p:nvSpPr>
        <p:spPr>
          <a:xfrm>
            <a:off x="4743450" y="2095500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Map + 3D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E3EBA3-8493-4D12-97E5-7F7DA3CCB24D}"/>
              </a:ext>
            </a:extLst>
          </p:cNvPr>
          <p:cNvSpPr>
            <a:spLocks noGrp="1"/>
          </p:cNvSpPr>
          <p:nvPr/>
        </p:nvSpPr>
        <p:spPr>
          <a:xfrm>
            <a:off x="4743450" y="236220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MapLibre GL · Three.js / deck.gl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835D31C-2194-4BA5-8DD1-94F45E7A6FD8}"/>
              </a:ext>
            </a:extLst>
          </p:cNvPr>
          <p:cNvSpPr>
            <a:spLocks noGrp="1"/>
          </p:cNvSpPr>
          <p:nvPr/>
        </p:nvSpPr>
        <p:spPr>
          <a:xfrm>
            <a:off x="5943600" y="1943100"/>
            <a:ext cx="17145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51C1234-44B2-4EC3-9753-009074D315EC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400050" cy="400050"/>
          </a:xfrm>
          <a:prstGeom prst="ellipse">
            <a:avLst/>
          </a:prstGeom>
          <a:solidFill>
            <a:srgbClr val="EAF3FA"/>
          </a:solidFill>
          <a:ln w="9525">
            <a:solidFill>
              <a:srgbClr val="BFD6EA"/>
            </a:solidFill>
          </a:ln>
        </p:spPr>
      </p:sp>
      <p:pic>
        <p:nvPicPr>
          <p:cNvPr id="85" name="Graphic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6172200" y="2209800"/>
            <a:ext cx="209550" cy="2095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479E90B-49F9-4C0C-81B8-DA16769B1556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Spatial rules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12F6D0-22A4-4AE7-8FCD-2A33946929F9}"/>
              </a:ext>
            </a:extLst>
          </p:cNvPr>
          <p:cNvSpPr>
            <a:spLocks noGrp="1"/>
          </p:cNvSpPr>
          <p:nvPr/>
        </p:nvSpPr>
        <p:spPr>
          <a:xfrm>
            <a:off x="6572250" y="236220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PostGIS · Turf.js · topology checks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5FE2012-7D8F-440F-B3B8-6DEFB02DAD1D}"/>
              </a:ext>
            </a:extLst>
          </p:cNvPr>
          <p:cNvSpPr>
            <a:spLocks noGrp="1"/>
          </p:cNvSpPr>
          <p:nvPr/>
        </p:nvSpPr>
        <p:spPr>
          <a:xfrm>
            <a:off x="7772400" y="1943100"/>
            <a:ext cx="17145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AD10E12-652C-467C-B167-9B6A86807FFC}"/>
              </a:ext>
            </a:extLst>
          </p:cNvPr>
          <p:cNvSpPr>
            <a:spLocks noGrp="1"/>
          </p:cNvSpPr>
          <p:nvPr/>
        </p:nvSpPr>
        <p:spPr>
          <a:xfrm>
            <a:off x="7905750" y="2114550"/>
            <a:ext cx="400050" cy="400050"/>
          </a:xfrm>
          <a:prstGeom prst="ellipse">
            <a:avLst/>
          </a:prstGeom>
          <a:solidFill>
            <a:srgbClr val="EAF3FA"/>
          </a:solidFill>
          <a:ln w="9525">
            <a:solidFill>
              <a:srgbClr val="BFD6EA"/>
            </a:solidFill>
          </a:ln>
        </p:spPr>
      </p:sp>
      <p:pic>
        <p:nvPicPr>
          <p:cNvPr id="90" name="Graphic 8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8001000" y="2209800"/>
            <a:ext cx="209550" cy="20955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39633508-08F7-4629-9599-904720804D29}"/>
              </a:ext>
            </a:extLst>
          </p:cNvPr>
          <p:cNvSpPr>
            <a:spLocks noGrp="1"/>
          </p:cNvSpPr>
          <p:nvPr/>
        </p:nvSpPr>
        <p:spPr>
          <a:xfrm>
            <a:off x="8401050" y="2095500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9B1AEF4-6337-4CD3-ACFA-9D24CE0B10CB}"/>
              </a:ext>
            </a:extLst>
          </p:cNvPr>
          <p:cNvSpPr>
            <a:spLocks noGrp="1"/>
          </p:cNvSpPr>
          <p:nvPr/>
        </p:nvSpPr>
        <p:spPr>
          <a:xfrm>
            <a:off x="8401050" y="236220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Node/Fastify API · WebSocket/SSE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06A2627-3D85-4FAD-891F-D1686F5CF1D6}"/>
              </a:ext>
            </a:extLst>
          </p:cNvPr>
          <p:cNvSpPr>
            <a:spLocks noGrp="1"/>
          </p:cNvSpPr>
          <p:nvPr/>
        </p:nvSpPr>
        <p:spPr>
          <a:xfrm>
            <a:off x="9601200" y="1943100"/>
            <a:ext cx="17145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3C899E-87B7-4194-9A53-B94899D33A63}"/>
              </a:ext>
            </a:extLst>
          </p:cNvPr>
          <p:cNvSpPr>
            <a:spLocks noGrp="1"/>
          </p:cNvSpPr>
          <p:nvPr/>
        </p:nvSpPr>
        <p:spPr>
          <a:xfrm>
            <a:off x="9734550" y="2114550"/>
            <a:ext cx="400050" cy="400050"/>
          </a:xfrm>
          <a:prstGeom prst="ellipse">
            <a:avLst/>
          </a:prstGeom>
          <a:solidFill>
            <a:srgbClr val="EAF3FA"/>
          </a:solidFill>
          <a:ln w="9525">
            <a:solidFill>
              <a:srgbClr val="BFD6EA"/>
            </a:solidFill>
          </a:ln>
        </p:spPr>
      </p:sp>
      <p:pic>
        <p:nvPicPr>
          <p:cNvPr id="95" name="Graphic 9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9829800" y="2209800"/>
            <a:ext cx="209550" cy="20955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0272FB46-673F-48FA-AFBB-57569AD19E2E}"/>
              </a:ext>
            </a:extLst>
          </p:cNvPr>
          <p:cNvSpPr>
            <a:spLocks noGrp="1"/>
          </p:cNvSpPr>
          <p:nvPr/>
        </p:nvSpPr>
        <p:spPr>
          <a:xfrm>
            <a:off x="10229850" y="2095500"/>
            <a:ext cx="9715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F08A2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08A24"/>
                </a:solidFill>
                <a:latin typeface="Arial"/>
                <a:ea typeface="Arial"/>
                <a:cs typeface="Arial"/>
              </a:rPr>
              <a:t>ID codec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9C965BA-4444-4FB8-A432-D5CA05E9CE79}"/>
              </a:ext>
            </a:extLst>
          </p:cNvPr>
          <p:cNvSpPr>
            <a:spLocks noGrp="1"/>
          </p:cNvSpPr>
          <p:nvPr/>
        </p:nvSpPr>
        <p:spPr>
          <a:xfrm>
            <a:off x="10229850" y="236220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Rust codec · deterministic parsing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F23A741-E936-47F7-A4D4-D69D7EE1F2AD}"/>
              </a:ext>
            </a:extLst>
          </p:cNvPr>
          <p:cNvSpPr>
            <a:spLocks noGrp="1"/>
          </p:cNvSpPr>
          <p:nvPr/>
        </p:nvSpPr>
        <p:spPr>
          <a:xfrm>
            <a:off x="457200" y="3238500"/>
            <a:ext cx="2095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REFERENCE ARCHITECTURE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D1A67168-95AD-4E06-9254-FD94BD79BCF0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C5493D-E318-4811-9505-7A7A40391AA4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1809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01  INPUT SOURCES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DD602D1-56DC-4F5C-9CF3-7A2103DA5B2C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1905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GIS parcel layers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CORS / GNSS fixes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DEM / DSM and imagery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Approved floor plans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ABE7546-583B-4CBF-B926-2EE77FAB06BD}"/>
              </a:ext>
            </a:extLst>
          </p:cNvPr>
          <p:cNvSpPr>
            <a:spLocks noGrp="1"/>
          </p:cNvSpPr>
          <p:nvPr/>
        </p:nvSpPr>
        <p:spPr>
          <a:xfrm>
            <a:off x="3257550" y="356235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EAF3FA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0187CF-C684-4E77-B6E2-A812C9427A74}"/>
              </a:ext>
            </a:extLst>
          </p:cNvPr>
          <p:cNvSpPr>
            <a:spLocks noGrp="1"/>
          </p:cNvSpPr>
          <p:nvPr/>
        </p:nvSpPr>
        <p:spPr>
          <a:xfrm>
            <a:off x="3467100" y="3790950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02  SPATIAL ENGINE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711AE4-1AB0-442B-9F9E-AA003DDCD09B}"/>
              </a:ext>
            </a:extLst>
          </p:cNvPr>
          <p:cNvSpPr>
            <a:spLocks noGrp="1"/>
          </p:cNvSpPr>
          <p:nvPr/>
        </p:nvSpPr>
        <p:spPr>
          <a:xfrm>
            <a:off x="3467100" y="4095750"/>
            <a:ext cx="1905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Footprint alignment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Floor-plan digitisation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Elevation-range tests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Tolerance and topology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31790A6-7C03-48FD-95CD-C108A1EC3DDE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2381250" cy="1733550"/>
          </a:xfrm>
          <a:prstGeom prst="roundRect">
            <a:avLst>
              <a:gd name="adj" fmla="val 9890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19FF8DB-0572-4078-9032-E38A84FC3A37}"/>
              </a:ext>
            </a:extLst>
          </p:cNvPr>
          <p:cNvSpPr>
            <a:spLocks noGrp="1"/>
          </p:cNvSpPr>
          <p:nvPr/>
        </p:nvSpPr>
        <p:spPr>
          <a:xfrm>
            <a:off x="6267450" y="3790950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03  3D ULPIN CODEC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CE66C1C-378E-4189-A2A1-3F13B0A9AA1A}"/>
              </a:ext>
            </a:extLst>
          </p:cNvPr>
          <p:cNvSpPr>
            <a:spLocks noGrp="1"/>
          </p:cNvSpPr>
          <p:nvPr/>
        </p:nvSpPr>
        <p:spPr>
          <a:xfrm>
            <a:off x="6267450" y="4095750"/>
            <a:ext cx="1905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Root parcel ULPIN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Volume marker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Base / top elevation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Use class + tenure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AFF8336-AD2E-4CF5-9982-DC7EC42500D1}"/>
              </a:ext>
            </a:extLst>
          </p:cNvPr>
          <p:cNvSpPr>
            <a:spLocks noGrp="1"/>
          </p:cNvSpPr>
          <p:nvPr/>
        </p:nvSpPr>
        <p:spPr>
          <a:xfrm>
            <a:off x="8858250" y="3562350"/>
            <a:ext cx="2876550" cy="1733550"/>
          </a:xfrm>
          <a:prstGeom prst="roundRect">
            <a:avLst>
              <a:gd name="adj" fmla="val 9890"/>
            </a:avLst>
          </a:prstGeom>
          <a:solidFill>
            <a:srgbClr val="E7F4ED"/>
          </a:solidFill>
          <a:ln w="11430">
            <a:solidFill>
              <a:srgbClr val="B8DCC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4C6372-CE62-4A1C-B888-CDF2C1D7FC8D}"/>
              </a:ext>
            </a:extLst>
          </p:cNvPr>
          <p:cNvSpPr>
            <a:spLocks noGrp="1"/>
          </p:cNvSpPr>
          <p:nvPr/>
        </p:nvSpPr>
        <p:spPr>
          <a:xfrm>
            <a:off x="9067800" y="3790950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00" b="1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04  REGISTRY + CLIENTS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C313984-D95E-45DA-A9E3-392D6B31B32C}"/>
              </a:ext>
            </a:extLst>
          </p:cNvPr>
          <p:cNvSpPr>
            <a:spLocks noGrp="1"/>
          </p:cNvSpPr>
          <p:nvPr/>
        </p:nvSpPr>
        <p:spPr>
          <a:xfrm>
            <a:off x="9067800" y="4095750"/>
            <a:ext cx="238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PostgreSQL / PostGIS register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Live map + 3D scene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Offline validator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GeoJSON · CityGML · LADM</a:t>
            </a:r>
          </a:p>
        </p:txBody>
      </p:sp>
      <p:cxnSp>
        <p:nvCxnSpPr>
          <p:cNvPr id="111" name="Straight Arrow Connector 110"/>
          <p:cNvCxnSpPr>
            <a:stCxn id="42" idx="3"/>
            <a:endCxn id="45" idx="1"/>
          </p:cNvCxnSpPr>
          <p:nvPr/>
        </p:nvCxnSpPr>
        <p:spPr>
          <a:xfrm>
            <a:off x="2838450" y="4429125"/>
            <a:ext cx="41910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cxnSp>
        <p:nvCxnSpPr>
          <p:cNvPr id="112" name="Straight Arrow Connector 111"/>
          <p:cNvCxnSpPr>
            <a:stCxn id="45" idx="3"/>
            <a:endCxn id="48" idx="1"/>
          </p:cNvCxnSpPr>
          <p:nvPr/>
        </p:nvCxnSpPr>
        <p:spPr>
          <a:xfrm>
            <a:off x="5638800" y="4429125"/>
            <a:ext cx="41910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cxnSp>
        <p:nvCxnSpPr>
          <p:cNvPr id="113" name="Straight Arrow Connector 112"/>
          <p:cNvCxnSpPr>
            <a:stCxn id="48" idx="3"/>
            <a:endCxn id="51" idx="1"/>
          </p:cNvCxnSpPr>
          <p:nvPr/>
        </p:nvCxnSpPr>
        <p:spPr>
          <a:xfrm>
            <a:off x="8439150" y="4429125"/>
            <a:ext cx="41910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6521BC4-C807-43FF-B6AF-4DCA35D725B9}"/>
              </a:ext>
            </a:extLst>
          </p:cNvPr>
          <p:cNvSpPr>
            <a:spLocks noGrp="1"/>
          </p:cNvSpPr>
          <p:nvPr/>
        </p:nvSpPr>
        <p:spPr>
          <a:xfrm>
            <a:off x="457200" y="5600700"/>
            <a:ext cx="11277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One scene state keeps the cadastral map and the 3D volume view consistent.</a:t>
            </a:r>
          </a:p>
        </p:txBody>
      </p:sp>
    </p:spTree>
    <p:extLst>
      <p:ext uri="{BB962C8B-B14F-4D97-AF65-F5344CB8AC3E}">
        <p14:creationId xmlns:p14="http://schemas.microsoft.com/office/powerpoint/2010/main" val="159565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>
            <a:extLst>
              <a:ext uri="{FF2B5EF4-FFF2-40B4-BE49-F238E27FC236}">
                <a16:creationId xmlns:a16="http://schemas.microsoft.com/office/drawing/2014/main" id="{42A53570-0611-46BE-AF23-C6E2A9ACB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78C5"/>
          </a:solidFill>
          <a:ln w="0">
            <a:solidFill>
              <a:srgbClr val="0B78C5"/>
            </a:solidFill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7BDF577-283F-4680-92D1-C9E73C8E2782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59E8B-C8B8-46B3-AA65-4FAACB7AF5E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296A9-A14A-4874-B68B-A14D67637CA2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survey to registry: a six-step issuance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057939-8106-4D0B-B7E9-437DD557BF04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The workflow converts ordinary survey and planning records into validated volumetric register entries.</a:t>
            </a:r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83809" y="114300"/>
            <a:ext cx="1654132" cy="78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FA44C7B-4B9A-4F6F-BE24-59601D491A4D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87159B-69D4-41AB-8B0C-E4F901028CD8}"/>
              </a:ext>
            </a:extLst>
          </p:cNvPr>
          <p:cNvSpPr>
            <a:spLocks noGrp="1"/>
          </p:cNvSpPr>
          <p:nvPr/>
        </p:nvSpPr>
        <p:spPr>
          <a:xfrm>
            <a:off x="457200" y="6638925"/>
            <a:ext cx="5715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INDIA HACKATHON 2026   |   TEAM GEOGRAPH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E02312-5E78-4D28-81C0-E72529EB4D31}"/>
              </a:ext>
            </a:extLst>
          </p:cNvPr>
          <p:cNvSpPr>
            <a:spLocks noGrp="1"/>
          </p:cNvSpPr>
          <p:nvPr/>
        </p:nvSpPr>
        <p:spPr>
          <a:xfrm>
            <a:off x="11239500" y="661987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E35C8A-BED7-4CC2-BB1D-DC2AE155F57B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1905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IMPLEMENTATION FLOW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C51B1F-6070-4CD3-82E8-C163EFD81CF3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1619250" cy="1352550"/>
          </a:xfrm>
          <a:prstGeom prst="roundRect">
            <a:avLst>
              <a:gd name="adj" fmla="val 11268"/>
            </a:avLst>
          </a:prstGeom>
          <a:solidFill>
            <a:srgbClr val="0B3D6E"/>
          </a:solidFill>
          <a:ln w="11430">
            <a:solidFill>
              <a:srgbClr val="0B3D6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452651A-F716-4A4B-8E96-2E50C0255793}"/>
              </a:ext>
            </a:extLst>
          </p:cNvPr>
          <p:cNvSpPr>
            <a:spLocks noGrp="1"/>
          </p:cNvSpPr>
          <p:nvPr/>
        </p:nvSpPr>
        <p:spPr>
          <a:xfrm>
            <a:off x="590550" y="2152650"/>
            <a:ext cx="323850" cy="3238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A26796-FB55-469A-9652-A0408218691C}"/>
              </a:ext>
            </a:extLst>
          </p:cNvPr>
          <p:cNvSpPr>
            <a:spLocks noGrp="1"/>
          </p:cNvSpPr>
          <p:nvPr/>
        </p:nvSpPr>
        <p:spPr>
          <a:xfrm>
            <a:off x="590550" y="221932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1CE7F1-13B9-4148-AC9E-C62556E8A3E8}"/>
              </a:ext>
            </a:extLst>
          </p:cNvPr>
          <p:cNvSpPr>
            <a:spLocks noGrp="1"/>
          </p:cNvSpPr>
          <p:nvPr/>
        </p:nvSpPr>
        <p:spPr>
          <a:xfrm>
            <a:off x="1009650" y="2171700"/>
            <a:ext cx="933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80F47D-5D21-4E41-981B-7EA633EFC1E5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31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CORS/GNSS</a:t>
            </a:r>
          </a:p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imagery + DEM/DSM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1375DB-F16C-46AA-9C2F-1AF7A8C42ADA}"/>
              </a:ext>
            </a:extLst>
          </p:cNvPr>
          <p:cNvSpPr>
            <a:spLocks noGrp="1"/>
          </p:cNvSpPr>
          <p:nvPr/>
        </p:nvSpPr>
        <p:spPr>
          <a:xfrm>
            <a:off x="2324100" y="2000250"/>
            <a:ext cx="1619250" cy="1352550"/>
          </a:xfrm>
          <a:prstGeom prst="roundRect">
            <a:avLst>
              <a:gd name="adj" fmla="val 11268"/>
            </a:avLst>
          </a:prstGeom>
          <a:solidFill>
            <a:srgbClr val="0B3D6E"/>
          </a:solidFill>
          <a:ln w="11430">
            <a:solidFill>
              <a:srgbClr val="0B3D6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9B99BD5-67D2-489F-A56B-9EC0A2828E58}"/>
              </a:ext>
            </a:extLst>
          </p:cNvPr>
          <p:cNvSpPr>
            <a:spLocks noGrp="1"/>
          </p:cNvSpPr>
          <p:nvPr/>
        </p:nvSpPr>
        <p:spPr>
          <a:xfrm>
            <a:off x="2457450" y="2152650"/>
            <a:ext cx="323850" cy="3238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DC7102-BCA1-48B5-BD8E-D3A2E65650BD}"/>
              </a:ext>
            </a:extLst>
          </p:cNvPr>
          <p:cNvSpPr>
            <a:spLocks noGrp="1"/>
          </p:cNvSpPr>
          <p:nvPr/>
        </p:nvSpPr>
        <p:spPr>
          <a:xfrm>
            <a:off x="2457450" y="221932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B1A964-59A9-41C2-9EC8-C41601062AD7}"/>
              </a:ext>
            </a:extLst>
          </p:cNvPr>
          <p:cNvSpPr>
            <a:spLocks noGrp="1"/>
          </p:cNvSpPr>
          <p:nvPr/>
        </p:nvSpPr>
        <p:spPr>
          <a:xfrm>
            <a:off x="2876550" y="2171700"/>
            <a:ext cx="933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Survey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0E9CD8-73B7-48D6-9136-91492BF00716}"/>
              </a:ext>
            </a:extLst>
          </p:cNvPr>
          <p:cNvSpPr>
            <a:spLocks noGrp="1"/>
          </p:cNvSpPr>
          <p:nvPr/>
        </p:nvSpPr>
        <p:spPr>
          <a:xfrm>
            <a:off x="2476500" y="2667000"/>
            <a:ext cx="131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Fix footprint</a:t>
            </a:r>
          </a:p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bind root ULPIN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BD3C54-BF7B-403C-9830-8EC96EF10B7B}"/>
              </a:ext>
            </a:extLst>
          </p:cNvPr>
          <p:cNvSpPr>
            <a:spLocks noGrp="1"/>
          </p:cNvSpPr>
          <p:nvPr/>
        </p:nvSpPr>
        <p:spPr>
          <a:xfrm>
            <a:off x="4191000" y="2000250"/>
            <a:ext cx="1619250" cy="1352550"/>
          </a:xfrm>
          <a:prstGeom prst="roundRect">
            <a:avLst>
              <a:gd name="adj" fmla="val 11268"/>
            </a:avLst>
          </a:prstGeom>
          <a:solidFill>
            <a:srgbClr val="0B3D6E"/>
          </a:solidFill>
          <a:ln w="11430">
            <a:solidFill>
              <a:srgbClr val="0B3D6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2FED13C-372F-4590-A457-975F38D3CB2D}"/>
              </a:ext>
            </a:extLst>
          </p:cNvPr>
          <p:cNvSpPr>
            <a:spLocks noGrp="1"/>
          </p:cNvSpPr>
          <p:nvPr/>
        </p:nvSpPr>
        <p:spPr>
          <a:xfrm>
            <a:off x="4324350" y="2152650"/>
            <a:ext cx="323850" cy="3238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2C38F7-634A-4817-B6FE-20FBD87C1912}"/>
              </a:ext>
            </a:extLst>
          </p:cNvPr>
          <p:cNvSpPr>
            <a:spLocks noGrp="1"/>
          </p:cNvSpPr>
          <p:nvPr/>
        </p:nvSpPr>
        <p:spPr>
          <a:xfrm>
            <a:off x="4324350" y="221932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D19708-5AE9-4FE3-B40A-6B83FDA853E2}"/>
              </a:ext>
            </a:extLst>
          </p:cNvPr>
          <p:cNvSpPr>
            <a:spLocks noGrp="1"/>
          </p:cNvSpPr>
          <p:nvPr/>
        </p:nvSpPr>
        <p:spPr>
          <a:xfrm>
            <a:off x="4743450" y="2171700"/>
            <a:ext cx="933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Digitise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F4D42C-19CA-43E1-9F56-DDEB31CEEDF3}"/>
              </a:ext>
            </a:extLst>
          </p:cNvPr>
          <p:cNvSpPr>
            <a:spLocks noGrp="1"/>
          </p:cNvSpPr>
          <p:nvPr/>
        </p:nvSpPr>
        <p:spPr>
          <a:xfrm>
            <a:off x="4343400" y="2667000"/>
            <a:ext cx="131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floor plan</a:t>
            </a:r>
          </a:p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into storeys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F4391E2-D147-4F67-87AA-5A49BFCDD92C}"/>
              </a:ext>
            </a:extLst>
          </p:cNvPr>
          <p:cNvSpPr>
            <a:spLocks noGrp="1"/>
          </p:cNvSpPr>
          <p:nvPr/>
        </p:nvSpPr>
        <p:spPr>
          <a:xfrm>
            <a:off x="6057900" y="2000250"/>
            <a:ext cx="1619250" cy="1352550"/>
          </a:xfrm>
          <a:prstGeom prst="roundRect">
            <a:avLst>
              <a:gd name="adj" fmla="val 11268"/>
            </a:avLst>
          </a:prstGeom>
          <a:solidFill>
            <a:srgbClr val="0B3D6E"/>
          </a:solidFill>
          <a:ln w="11430">
            <a:solidFill>
              <a:srgbClr val="0B3D6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F11458-E1A9-4647-99AB-4301FC46A2D2}"/>
              </a:ext>
            </a:extLst>
          </p:cNvPr>
          <p:cNvSpPr>
            <a:spLocks noGrp="1"/>
          </p:cNvSpPr>
          <p:nvPr/>
        </p:nvSpPr>
        <p:spPr>
          <a:xfrm>
            <a:off x="6191250" y="2152650"/>
            <a:ext cx="323850" cy="3238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10B1084-62A8-4748-A828-FECECDB2F415}"/>
              </a:ext>
            </a:extLst>
          </p:cNvPr>
          <p:cNvSpPr>
            <a:spLocks noGrp="1"/>
          </p:cNvSpPr>
          <p:nvPr/>
        </p:nvSpPr>
        <p:spPr>
          <a:xfrm>
            <a:off x="6191250" y="221932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CCEC4B-7401-447E-9045-8057103C1094}"/>
              </a:ext>
            </a:extLst>
          </p:cNvPr>
          <p:cNvSpPr>
            <a:spLocks noGrp="1"/>
          </p:cNvSpPr>
          <p:nvPr/>
        </p:nvSpPr>
        <p:spPr>
          <a:xfrm>
            <a:off x="6610350" y="2171700"/>
            <a:ext cx="933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Extrude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FAA012-2AFD-46D4-A426-BB5EB3C19712}"/>
              </a:ext>
            </a:extLst>
          </p:cNvPr>
          <p:cNvSpPr>
            <a:spLocks noGrp="1"/>
          </p:cNvSpPr>
          <p:nvPr/>
        </p:nvSpPr>
        <p:spPr>
          <a:xfrm>
            <a:off x="6210300" y="2667000"/>
            <a:ext cx="131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Footprint +</a:t>
            </a:r>
          </a:p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elevation range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F418A7E-B0AE-40A6-ACDB-1E4C9E85CFE8}"/>
              </a:ext>
            </a:extLst>
          </p:cNvPr>
          <p:cNvSpPr>
            <a:spLocks noGrp="1"/>
          </p:cNvSpPr>
          <p:nvPr/>
        </p:nvSpPr>
        <p:spPr>
          <a:xfrm>
            <a:off x="7924800" y="2000250"/>
            <a:ext cx="1619250" cy="1352550"/>
          </a:xfrm>
          <a:prstGeom prst="roundRect">
            <a:avLst>
              <a:gd name="adj" fmla="val 11268"/>
            </a:avLst>
          </a:prstGeom>
          <a:solidFill>
            <a:srgbClr val="0B3D6E"/>
          </a:solidFill>
          <a:ln w="11430">
            <a:solidFill>
              <a:srgbClr val="0B3D6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6A9E674-713A-4AC2-BEF7-F73D761E2018}"/>
              </a:ext>
            </a:extLst>
          </p:cNvPr>
          <p:cNvSpPr>
            <a:spLocks noGrp="1"/>
          </p:cNvSpPr>
          <p:nvPr/>
        </p:nvSpPr>
        <p:spPr>
          <a:xfrm>
            <a:off x="8058150" y="2152650"/>
            <a:ext cx="323850" cy="3238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E755C6C-6901-4D64-8483-D088B3B5DED2}"/>
              </a:ext>
            </a:extLst>
          </p:cNvPr>
          <p:cNvSpPr>
            <a:spLocks noGrp="1"/>
          </p:cNvSpPr>
          <p:nvPr/>
        </p:nvSpPr>
        <p:spPr>
          <a:xfrm>
            <a:off x="8058150" y="221932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0E06A1-D05E-4F91-A314-FF461991B0D8}"/>
              </a:ext>
            </a:extLst>
          </p:cNvPr>
          <p:cNvSpPr>
            <a:spLocks noGrp="1"/>
          </p:cNvSpPr>
          <p:nvPr/>
        </p:nvSpPr>
        <p:spPr>
          <a:xfrm>
            <a:off x="8477250" y="2171700"/>
            <a:ext cx="933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Issue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968E523-0D7C-4031-9C8F-C6F79BE23C04}"/>
              </a:ext>
            </a:extLst>
          </p:cNvPr>
          <p:cNvSpPr>
            <a:spLocks noGrp="1"/>
          </p:cNvSpPr>
          <p:nvPr/>
        </p:nvSpPr>
        <p:spPr>
          <a:xfrm>
            <a:off x="8077200" y="2667000"/>
            <a:ext cx="131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Mint 3D ULPIN</a:t>
            </a:r>
          </a:p>
          <a:p>
            <a:pPr algn="ctr">
              <a:lnSpc>
                <a:spcPct val="105000"/>
              </a:lnSpc>
              <a:buNone/>
              <a:defRPr sz="9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volume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54AC5D0-9FC8-4A0D-8511-20F493A374AE}"/>
              </a:ext>
            </a:extLst>
          </p:cNvPr>
          <p:cNvSpPr>
            <a:spLocks noGrp="1"/>
          </p:cNvSpPr>
          <p:nvPr/>
        </p:nvSpPr>
        <p:spPr>
          <a:xfrm>
            <a:off x="9791700" y="2000250"/>
            <a:ext cx="1619250" cy="1352550"/>
          </a:xfrm>
          <a:prstGeom prst="roundRect">
            <a:avLst>
              <a:gd name="adj" fmla="val 11268"/>
            </a:avLst>
          </a:prstGeom>
          <a:solidFill>
            <a:srgbClr val="E7F4ED"/>
          </a:solidFill>
          <a:ln w="11430">
            <a:solidFill>
              <a:srgbClr val="B8DCC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9808CE8-8B87-482E-BBF6-77086CA75FD4}"/>
              </a:ext>
            </a:extLst>
          </p:cNvPr>
          <p:cNvSpPr>
            <a:spLocks noGrp="1"/>
          </p:cNvSpPr>
          <p:nvPr/>
        </p:nvSpPr>
        <p:spPr>
          <a:xfrm>
            <a:off x="9925050" y="2152650"/>
            <a:ext cx="323850" cy="323850"/>
          </a:xfrm>
          <a:prstGeom prst="ellipse">
            <a:avLst/>
          </a:prstGeom>
          <a:solidFill>
            <a:srgbClr val="18794E"/>
          </a:solidFill>
          <a:ln w="0">
            <a:noFill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DE772DF-B5E0-450B-A709-57667352DE64}"/>
              </a:ext>
            </a:extLst>
          </p:cNvPr>
          <p:cNvSpPr>
            <a:spLocks noGrp="1"/>
          </p:cNvSpPr>
          <p:nvPr/>
        </p:nvSpPr>
        <p:spPr>
          <a:xfrm>
            <a:off x="9925050" y="221932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6DC9DEF-529B-49B8-B679-0DD3D474E918}"/>
              </a:ext>
            </a:extLst>
          </p:cNvPr>
          <p:cNvSpPr>
            <a:spLocks noGrp="1"/>
          </p:cNvSpPr>
          <p:nvPr/>
        </p:nvSpPr>
        <p:spPr>
          <a:xfrm>
            <a:off x="10344150" y="2171700"/>
            <a:ext cx="9334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DC4833-CDE0-43B3-B10A-AFC329F9A444}"/>
              </a:ext>
            </a:extLst>
          </p:cNvPr>
          <p:cNvSpPr>
            <a:spLocks noGrp="1"/>
          </p:cNvSpPr>
          <p:nvPr/>
        </p:nvSpPr>
        <p:spPr>
          <a:xfrm>
            <a:off x="9944100" y="2667000"/>
            <a:ext cx="13144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9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Overlap check</a:t>
            </a:r>
          </a:p>
          <a:p>
            <a:pPr algn="ctr">
              <a:lnSpc>
                <a:spcPct val="105000"/>
              </a:lnSpc>
              <a:buNone/>
              <a:defRPr sz="9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write registry</a:t>
            </a:r>
          </a:p>
        </p:txBody>
      </p:sp>
      <p:cxnSp>
        <p:nvCxnSpPr>
          <p:cNvPr id="106" name="Straight Arrow Connector 105"/>
          <p:cNvCxnSpPr>
            <a:stCxn id="11" idx="3"/>
            <a:endCxn id="16" idx="1"/>
          </p:cNvCxnSpPr>
          <p:nvPr/>
        </p:nvCxnSpPr>
        <p:spPr>
          <a:xfrm>
            <a:off x="2076450" y="2676525"/>
            <a:ext cx="24765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cxnSp>
        <p:nvCxnSpPr>
          <p:cNvPr id="107" name="Straight Arrow Connector 106"/>
          <p:cNvCxnSpPr>
            <a:stCxn id="16" idx="3"/>
            <a:endCxn id="21" idx="1"/>
          </p:cNvCxnSpPr>
          <p:nvPr/>
        </p:nvCxnSpPr>
        <p:spPr>
          <a:xfrm>
            <a:off x="3943350" y="2676525"/>
            <a:ext cx="24765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cxnSp>
        <p:nvCxnSpPr>
          <p:cNvPr id="108" name="Straight Arrow Connector 107"/>
          <p:cNvCxnSpPr>
            <a:stCxn id="21" idx="3"/>
            <a:endCxn id="26" idx="1"/>
          </p:cNvCxnSpPr>
          <p:nvPr/>
        </p:nvCxnSpPr>
        <p:spPr>
          <a:xfrm>
            <a:off x="5810250" y="2676525"/>
            <a:ext cx="24765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cxnSp>
        <p:nvCxnSpPr>
          <p:cNvPr id="109" name="Straight Arrow Connector 108"/>
          <p:cNvCxnSpPr>
            <a:stCxn id="26" idx="3"/>
            <a:endCxn id="31" idx="1"/>
          </p:cNvCxnSpPr>
          <p:nvPr/>
        </p:nvCxnSpPr>
        <p:spPr>
          <a:xfrm>
            <a:off x="7677150" y="2676525"/>
            <a:ext cx="24765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cxnSp>
        <p:nvCxnSpPr>
          <p:cNvPr id="110" name="Straight Arrow Connector 109"/>
          <p:cNvCxnSpPr>
            <a:stCxn id="31" idx="3"/>
            <a:endCxn id="36" idx="1"/>
          </p:cNvCxnSpPr>
          <p:nvPr/>
        </p:nvCxnSpPr>
        <p:spPr>
          <a:xfrm>
            <a:off x="9544050" y="2676525"/>
            <a:ext cx="247650" cy="0"/>
          </a:xfrm>
          <a:prstGeom prst="straightConnector1">
            <a:avLst/>
          </a:prstGeom>
          <a:ln w="19050">
            <a:solidFill>
              <a:srgbClr val="0B78C5"/>
            </a:solidFill>
            <a:prstDash val="solid"/>
            <a:tailEnd type="triangle" w="sm" len="sm"/>
          </a:ln>
        </p:spPr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DF0E1A16-BB7C-457A-8931-FD9549503E8A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1905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IDENTIFIER ANATOMY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4343F14-5739-4962-9B8D-F91312995490}"/>
              </a:ext>
            </a:extLst>
          </p:cNvPr>
          <p:cNvSpPr>
            <a:spLocks noGrp="1"/>
          </p:cNvSpPr>
          <p:nvPr/>
        </p:nvSpPr>
        <p:spPr>
          <a:xfrm>
            <a:off x="457200" y="4000500"/>
            <a:ext cx="7239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The string carries the parcel, volume and vertical extent without a database lookup.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20C9B05F-9F95-4B3D-8D1A-BCDBE58C6DDA}"/>
              </a:ext>
            </a:extLst>
          </p:cNvPr>
          <p:cNvSpPr>
            <a:spLocks noGrp="1"/>
          </p:cNvSpPr>
          <p:nvPr/>
        </p:nvSpPr>
        <p:spPr>
          <a:xfrm>
            <a:off x="457200" y="4343400"/>
            <a:ext cx="11277600" cy="123825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BB656ED5-0976-4263-BE37-C960366B1DF0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162300" cy="34290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3335">
            <a:solidFill>
              <a:srgbClr val="0B3D6E"/>
            </a:solidFill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7B4A53C-F06D-44EC-AB6A-578E54DD2AF1}"/>
              </a:ext>
            </a:extLst>
          </p:cNvPr>
          <p:cNvSpPr>
            <a:spLocks noGrp="1"/>
          </p:cNvSpPr>
          <p:nvPr/>
        </p:nvSpPr>
        <p:spPr>
          <a:xfrm>
            <a:off x="666750" y="4648200"/>
            <a:ext cx="3048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RJ09JPR0A1B2C3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DC487AE-BA36-433B-97A2-8B1F19E30050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31623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root parcel ULPIN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A908342-C8DE-4D79-AA1E-1DDCF4658C5A}"/>
              </a:ext>
            </a:extLst>
          </p:cNvPr>
          <p:cNvSpPr>
            <a:spLocks noGrp="1"/>
          </p:cNvSpPr>
          <p:nvPr/>
        </p:nvSpPr>
        <p:spPr>
          <a:xfrm>
            <a:off x="3886200" y="4572000"/>
            <a:ext cx="857250" cy="34290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3335">
            <a:solidFill>
              <a:srgbClr val="0B78C5"/>
            </a:solidFill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88D3F2C-C9AB-4FCF-8014-DF050590B9CB}"/>
              </a:ext>
            </a:extLst>
          </p:cNvPr>
          <p:cNvSpPr>
            <a:spLocks noGrp="1"/>
          </p:cNvSpPr>
          <p:nvPr/>
        </p:nvSpPr>
        <p:spPr>
          <a:xfrm>
            <a:off x="3943350" y="4648200"/>
            <a:ext cx="7429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BCCB1E-4C50-4B04-882F-179B6CA75C40}"/>
              </a:ext>
            </a:extLst>
          </p:cNvPr>
          <p:cNvSpPr>
            <a:spLocks noGrp="1"/>
          </p:cNvSpPr>
          <p:nvPr/>
        </p:nvSpPr>
        <p:spPr>
          <a:xfrm>
            <a:off x="3886200" y="5010150"/>
            <a:ext cx="857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volume marker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E995B52B-5DD4-44DC-8046-8BCFC5102043}"/>
              </a:ext>
            </a:extLst>
          </p:cNvPr>
          <p:cNvSpPr>
            <a:spLocks noGrp="1"/>
          </p:cNvSpPr>
          <p:nvPr/>
        </p:nvSpPr>
        <p:spPr>
          <a:xfrm>
            <a:off x="4857750" y="4572000"/>
            <a:ext cx="1962150" cy="34290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3335">
            <a:solidFill>
              <a:srgbClr val="0E8B83"/>
            </a:solidFill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022188-4869-4BA8-94FA-565CB226D82A}"/>
              </a:ext>
            </a:extLst>
          </p:cNvPr>
          <p:cNvSpPr>
            <a:spLocks noGrp="1"/>
          </p:cNvSpPr>
          <p:nvPr/>
        </p:nvSpPr>
        <p:spPr>
          <a:xfrm>
            <a:off x="4914900" y="464820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E8B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8B83"/>
                </a:solidFill>
                <a:latin typeface="Arial"/>
                <a:ea typeface="Arial"/>
                <a:cs typeface="Arial"/>
              </a:rPr>
              <a:t>+02370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BAEB2B3-03F6-46B4-B271-D6C67EC53412}"/>
              </a:ext>
            </a:extLst>
          </p:cNvPr>
          <p:cNvSpPr>
            <a:spLocks noGrp="1"/>
          </p:cNvSpPr>
          <p:nvPr/>
        </p:nvSpPr>
        <p:spPr>
          <a:xfrm>
            <a:off x="4857750" y="5010150"/>
            <a:ext cx="1962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base elevation (cm)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34402A66-E110-4FBA-BCD3-9E43F3E246A0}"/>
              </a:ext>
            </a:extLst>
          </p:cNvPr>
          <p:cNvSpPr>
            <a:spLocks noGrp="1"/>
          </p:cNvSpPr>
          <p:nvPr/>
        </p:nvSpPr>
        <p:spPr>
          <a:xfrm>
            <a:off x="6934200" y="4572000"/>
            <a:ext cx="1962150" cy="34290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3335">
            <a:solidFill>
              <a:srgbClr val="0E8B83"/>
            </a:solidFill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23F48C9-3A8E-407F-8B78-EF8131394FC7}"/>
              </a:ext>
            </a:extLst>
          </p:cNvPr>
          <p:cNvSpPr>
            <a:spLocks noGrp="1"/>
          </p:cNvSpPr>
          <p:nvPr/>
        </p:nvSpPr>
        <p:spPr>
          <a:xfrm>
            <a:off x="6991350" y="4648200"/>
            <a:ext cx="1847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E8B83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E8B83"/>
                </a:solidFill>
                <a:latin typeface="Arial"/>
                <a:ea typeface="Arial"/>
                <a:cs typeface="Arial"/>
              </a:rPr>
              <a:t>+02690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CE2DF54-FA59-4938-B0F7-033354C89C72}"/>
              </a:ext>
            </a:extLst>
          </p:cNvPr>
          <p:cNvSpPr>
            <a:spLocks noGrp="1"/>
          </p:cNvSpPr>
          <p:nvPr/>
        </p:nvSpPr>
        <p:spPr>
          <a:xfrm>
            <a:off x="6934200" y="5010150"/>
            <a:ext cx="19621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top elevation (cm)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26421D6-D011-4FEB-A302-4A66C102E112}"/>
              </a:ext>
            </a:extLst>
          </p:cNvPr>
          <p:cNvSpPr>
            <a:spLocks noGrp="1"/>
          </p:cNvSpPr>
          <p:nvPr/>
        </p:nvSpPr>
        <p:spPr>
          <a:xfrm>
            <a:off x="9010650" y="4572000"/>
            <a:ext cx="2381250" cy="342900"/>
          </a:xfrm>
          <a:prstGeom prst="roundRect">
            <a:avLst>
              <a:gd name="adj" fmla="val 25000"/>
            </a:avLst>
          </a:prstGeom>
          <a:solidFill>
            <a:srgbClr val="EAF3FA"/>
          </a:solidFill>
          <a:ln w="13335">
            <a:solidFill>
              <a:srgbClr val="F08A24"/>
            </a:solidFill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8927AF-9DFF-44F9-9C63-DA32432E172F}"/>
              </a:ext>
            </a:extLst>
          </p:cNvPr>
          <p:cNvSpPr>
            <a:spLocks noGrp="1"/>
          </p:cNvSpPr>
          <p:nvPr/>
        </p:nvSpPr>
        <p:spPr>
          <a:xfrm>
            <a:off x="9067800" y="4648200"/>
            <a:ext cx="22669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F08A2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08A24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FA60E1-149C-4A58-8990-238F9CE66057}"/>
              </a:ext>
            </a:extLst>
          </p:cNvPr>
          <p:cNvSpPr>
            <a:spLocks noGrp="1"/>
          </p:cNvSpPr>
          <p:nvPr/>
        </p:nvSpPr>
        <p:spPr>
          <a:xfrm>
            <a:off x="9010650" y="501015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use class + tenure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8ED0326F-8B63-40B8-B005-F5FC225E765F}"/>
              </a:ext>
            </a:extLst>
          </p:cNvPr>
          <p:cNvSpPr>
            <a:spLocks noGrp="1"/>
          </p:cNvSpPr>
          <p:nvPr/>
        </p:nvSpPr>
        <p:spPr>
          <a:xfrm>
            <a:off x="457200" y="5810250"/>
            <a:ext cx="11277600" cy="400050"/>
          </a:xfrm>
          <a:prstGeom prst="roundRect">
            <a:avLst>
              <a:gd name="adj" fmla="val 28571"/>
            </a:avLst>
          </a:prstGeom>
          <a:solidFill>
            <a:srgbClr val="FCECEC"/>
          </a:solidFill>
          <a:ln w="9525">
            <a:solidFill>
              <a:srgbClr val="E3B5B5"/>
            </a:solidFill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90A6B8C-09B6-4F31-95CD-1370F8B4C39D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8204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B84A4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B84A4A"/>
                </a:solidFill>
                <a:latin typeface="Arial"/>
                <a:ea typeface="Arial"/>
                <a:cs typeface="Arial"/>
              </a:rPr>
              <a:t>Validation rule: same footprint + intersecting elevation range = review flag before registration.</a:t>
            </a:r>
          </a:p>
        </p:txBody>
      </p:sp>
    </p:spTree>
    <p:extLst>
      <p:ext uri="{BB962C8B-B14F-4D97-AF65-F5344CB8AC3E}">
        <p14:creationId xmlns:p14="http://schemas.microsoft.com/office/powerpoint/2010/main" val="106629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91681621-4240-41F0-A9AC-A94985B702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78C5"/>
          </a:solidFill>
          <a:ln w="0">
            <a:solidFill>
              <a:srgbClr val="0B78C5"/>
            </a:solidFill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A6B384-DB70-4B32-87D1-127ED8CAA605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870F3-D1DC-4B2E-BB74-CC082F799E5F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9E431-FE91-4270-A487-D7002B27B7F5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Feasibility: high leverage, bounded hackathon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BC6FA-DDBD-471F-90A0-97503FFADB4A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The MVP can prove the core idea with one ward, one dataset and three user-facing surfaces.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83809" y="114300"/>
            <a:ext cx="1654132" cy="78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BC9CC8B-1FEF-48D1-B80F-24392C28DDC0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45EBD3-2CCA-47E9-8F5E-FC7C38064B94}"/>
              </a:ext>
            </a:extLst>
          </p:cNvPr>
          <p:cNvSpPr>
            <a:spLocks noGrp="1"/>
          </p:cNvSpPr>
          <p:nvPr/>
        </p:nvSpPr>
        <p:spPr>
          <a:xfrm>
            <a:off x="457200" y="6638925"/>
            <a:ext cx="5715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INDIA HACKATHON 2026   |   TEAM GEOGRAPH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DE7F4E-109B-48B0-A155-CFD214FB1D40}"/>
              </a:ext>
            </a:extLst>
          </p:cNvPr>
          <p:cNvSpPr>
            <a:spLocks noGrp="1"/>
          </p:cNvSpPr>
          <p:nvPr/>
        </p:nvSpPr>
        <p:spPr>
          <a:xfrm>
            <a:off x="11239500" y="661987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2E5FEB-D5A5-445D-8A5F-A0A1B484BA05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DELIVERY CASE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1B11D3-C017-4D14-AD07-0757D1FA98BA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3505200" cy="2647950"/>
          </a:xfrm>
          <a:prstGeom prst="roundRect">
            <a:avLst>
              <a:gd name="adj" fmla="val 6475"/>
            </a:avLst>
          </a:prstGeom>
          <a:solidFill>
            <a:srgbClr val="E7F4ED"/>
          </a:solidFill>
          <a:ln w="11430">
            <a:solidFill>
              <a:srgbClr val="B8DCC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DC7117-53BB-4614-80C4-8D6863F26AB9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BUILDABLE NOW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F7A974-AFEF-4B4A-A3DB-15092348C9D6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04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Existing ULPIN remains untouched.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Survey of India CORS/GNSS provides the positioning base.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Inputs already exist: GIS parcels, floor plans, DEM/DSM and imagery.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Thin vertical slice fits a hackathon build.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D0C50A-74A3-4674-B3C7-EB46DD756F2F}"/>
              </a:ext>
            </a:extLst>
          </p:cNvPr>
          <p:cNvSpPr>
            <a:spLocks noGrp="1"/>
          </p:cNvSpPr>
          <p:nvPr/>
        </p:nvSpPr>
        <p:spPr>
          <a:xfrm>
            <a:off x="4114800" y="1943100"/>
            <a:ext cx="3505200" cy="2647950"/>
          </a:xfrm>
          <a:prstGeom prst="roundRect">
            <a:avLst>
              <a:gd name="adj" fmla="val 6475"/>
            </a:avLst>
          </a:prstGeom>
          <a:solidFill>
            <a:srgbClr val="FFF4E3"/>
          </a:solidFill>
          <a:ln w="11430">
            <a:solidFill>
              <a:srgbClr val="E8C98C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CBE69D-C081-4D31-8AC2-9C51B1D2181B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A8641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A86412"/>
                </a:solidFill>
                <a:latin typeface="Arial"/>
                <a:ea typeface="Arial"/>
                <a:cs typeface="Arial"/>
              </a:rPr>
              <a:t>KEY RISKS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227662-5B9B-47E6-AC8A-FA4EBFEC5ECF}"/>
              </a:ext>
            </a:extLst>
          </p:cNvPr>
          <p:cNvSpPr>
            <a:spLocks noGrp="1"/>
          </p:cNvSpPr>
          <p:nvPr/>
        </p:nvSpPr>
        <p:spPr>
          <a:xfrm>
            <a:off x="4343400" y="2571750"/>
            <a:ext cx="304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Local floor levels may use different vertical datums.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Scanned plans may be rotated or not georeferenced.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State DCRs define use, tenure, air rights and TDR rules.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Survey noise can create false overlap signals.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E9FB00C-F94F-417F-A68D-4829177C3B9F}"/>
              </a:ext>
            </a:extLst>
          </p:cNvPr>
          <p:cNvSpPr>
            <a:spLocks noGrp="1"/>
          </p:cNvSpPr>
          <p:nvPr/>
        </p:nvSpPr>
        <p:spPr>
          <a:xfrm>
            <a:off x="7772400" y="1943100"/>
            <a:ext cx="3505200" cy="2647950"/>
          </a:xfrm>
          <a:prstGeom prst="roundRect">
            <a:avLst>
              <a:gd name="adj" fmla="val 6475"/>
            </a:avLst>
          </a:prstGeom>
          <a:solidFill>
            <a:srgbClr val="EAF3FA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6A5801-FC3C-40C4-8B7D-48D98862CF15}"/>
              </a:ext>
            </a:extLst>
          </p:cNvPr>
          <p:cNvSpPr>
            <a:spLocks noGrp="1"/>
          </p:cNvSpPr>
          <p:nvPr/>
        </p:nvSpPr>
        <p:spPr>
          <a:xfrm>
            <a:off x="7981950" y="2190750"/>
            <a:ext cx="30861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MVP CONTROLS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1C46CD-0997-4169-8366-2F287C5F794E}"/>
              </a:ext>
            </a:extLst>
          </p:cNvPr>
          <p:cNvSpPr>
            <a:spLocks noGrp="1"/>
          </p:cNvSpPr>
          <p:nvPr/>
        </p:nvSpPr>
        <p:spPr>
          <a:xfrm>
            <a:off x="8001000" y="2571750"/>
            <a:ext cx="304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Store one geoid-referenced datum plus source metadata.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Use assisted digitisation with a human review step.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Make tenure and use class pluggable by state.</a:t>
            </a:r>
          </a:p>
          <a:p>
            <a:pPr algn="l">
              <a:lnSpc>
                <a:spcPct val="112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Apply tolerance bands and append-only versioning.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D708A3-A61E-4152-BD2E-29CB85EF9F46}"/>
              </a:ext>
            </a:extLst>
          </p:cNvPr>
          <p:cNvSpPr>
            <a:spLocks noGrp="1"/>
          </p:cNvSpPr>
          <p:nvPr/>
        </p:nvSpPr>
        <p:spPr>
          <a:xfrm>
            <a:off x="457200" y="4857750"/>
            <a:ext cx="16192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ADOPTION PATH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EF71A67-8647-43D2-AE5E-6683CCB76098}"/>
              </a:ext>
            </a:extLst>
          </p:cNvPr>
          <p:cNvSpPr>
            <a:spLocks noGrp="1"/>
          </p:cNvSpPr>
          <p:nvPr/>
        </p:nvSpPr>
        <p:spPr>
          <a:xfrm>
            <a:off x="457200" y="5143500"/>
            <a:ext cx="24003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3B45F0-437D-4D37-A635-5AF083E4AF09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285750" cy="2857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D55CA9-D1D5-4729-AC70-E686E595D06A}"/>
              </a:ext>
            </a:extLst>
          </p:cNvPr>
          <p:cNvSpPr>
            <a:spLocks noGrp="1"/>
          </p:cNvSpPr>
          <p:nvPr/>
        </p:nvSpPr>
        <p:spPr>
          <a:xfrm>
            <a:off x="609600" y="538162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0765B0-C38B-4536-BB22-67AA46AE0EFD}"/>
              </a:ext>
            </a:extLst>
          </p:cNvPr>
          <p:cNvSpPr>
            <a:spLocks noGrp="1"/>
          </p:cNvSpPr>
          <p:nvPr/>
        </p:nvSpPr>
        <p:spPr>
          <a:xfrm>
            <a:off x="1009650" y="5314950"/>
            <a:ext cx="16573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WARD PILOT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F1BDC5-A187-4D06-A0E0-147C1FBC5032}"/>
              </a:ext>
            </a:extLst>
          </p:cNvPr>
          <p:cNvSpPr>
            <a:spLocks noGrp="1"/>
          </p:cNvSpPr>
          <p:nvPr/>
        </p:nvSpPr>
        <p:spPr>
          <a:xfrm>
            <a:off x="1009650" y="5581650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One ULB ward</a:t>
            </a:r>
          </a:p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three surfaces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52FAC5-1741-4A15-9B34-26674F8F80CC}"/>
              </a:ext>
            </a:extLst>
          </p:cNvPr>
          <p:cNvSpPr>
            <a:spLocks noGrp="1"/>
          </p:cNvSpPr>
          <p:nvPr/>
        </p:nvSpPr>
        <p:spPr>
          <a:xfrm>
            <a:off x="3162300" y="5143500"/>
            <a:ext cx="24003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245A43-661F-4B90-8304-33B8743127FF}"/>
              </a:ext>
            </a:extLst>
          </p:cNvPr>
          <p:cNvSpPr>
            <a:spLocks noGrp="1"/>
          </p:cNvSpPr>
          <p:nvPr/>
        </p:nvSpPr>
        <p:spPr>
          <a:xfrm>
            <a:off x="3314700" y="5314950"/>
            <a:ext cx="285750" cy="2857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914E1B-F511-40D3-8DB7-D249D0C0BB25}"/>
              </a:ext>
            </a:extLst>
          </p:cNvPr>
          <p:cNvSpPr>
            <a:spLocks noGrp="1"/>
          </p:cNvSpPr>
          <p:nvPr/>
        </p:nvSpPr>
        <p:spPr>
          <a:xfrm>
            <a:off x="3314700" y="538162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F1E2FA-9A44-42BD-8A63-5051F30F4AB7}"/>
              </a:ext>
            </a:extLst>
          </p:cNvPr>
          <p:cNvSpPr>
            <a:spLocks noGrp="1"/>
          </p:cNvSpPr>
          <p:nvPr/>
        </p:nvSpPr>
        <p:spPr>
          <a:xfrm>
            <a:off x="3714750" y="5314950"/>
            <a:ext cx="16573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DISTRICT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1E5025-2732-4D2D-AD25-BB031437965E}"/>
              </a:ext>
            </a:extLst>
          </p:cNvPr>
          <p:cNvSpPr>
            <a:spLocks noGrp="1"/>
          </p:cNvSpPr>
          <p:nvPr/>
        </p:nvSpPr>
        <p:spPr>
          <a:xfrm>
            <a:off x="3714750" y="5581650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More parcels</a:t>
            </a:r>
          </a:p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shared standards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6EB885-E303-49DC-B5B1-76C05B7B0A8C}"/>
              </a:ext>
            </a:extLst>
          </p:cNvPr>
          <p:cNvSpPr>
            <a:spLocks noGrp="1"/>
          </p:cNvSpPr>
          <p:nvPr/>
        </p:nvSpPr>
        <p:spPr>
          <a:xfrm>
            <a:off x="5867400" y="5143500"/>
            <a:ext cx="24003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4D9453C-625A-41CA-9B30-52953041B9BB}"/>
              </a:ext>
            </a:extLst>
          </p:cNvPr>
          <p:cNvSpPr>
            <a:spLocks noGrp="1"/>
          </p:cNvSpPr>
          <p:nvPr/>
        </p:nvSpPr>
        <p:spPr>
          <a:xfrm>
            <a:off x="6019800" y="5314950"/>
            <a:ext cx="285750" cy="2857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E803476-9F0E-412C-BAAF-0F7D808BC813}"/>
              </a:ext>
            </a:extLst>
          </p:cNvPr>
          <p:cNvSpPr>
            <a:spLocks noGrp="1"/>
          </p:cNvSpPr>
          <p:nvPr/>
        </p:nvSpPr>
        <p:spPr>
          <a:xfrm>
            <a:off x="6019800" y="538162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9AA318E-E4B6-4169-B42B-ABFDCD954E15}"/>
              </a:ext>
            </a:extLst>
          </p:cNvPr>
          <p:cNvSpPr>
            <a:spLocks noGrp="1"/>
          </p:cNvSpPr>
          <p:nvPr/>
        </p:nvSpPr>
        <p:spPr>
          <a:xfrm>
            <a:off x="6419850" y="5314950"/>
            <a:ext cx="16573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34C1F3-C79A-494D-B2F4-E83CA05BB2A8}"/>
              </a:ext>
            </a:extLst>
          </p:cNvPr>
          <p:cNvSpPr>
            <a:spLocks noGrp="1"/>
          </p:cNvSpPr>
          <p:nvPr/>
        </p:nvSpPr>
        <p:spPr>
          <a:xfrm>
            <a:off x="6419850" y="5581650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DCR vocabulary</a:t>
            </a:r>
          </a:p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registry integration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252EA24-D9CC-428A-B5BA-4B293D418205}"/>
              </a:ext>
            </a:extLst>
          </p:cNvPr>
          <p:cNvSpPr>
            <a:spLocks noGrp="1"/>
          </p:cNvSpPr>
          <p:nvPr/>
        </p:nvSpPr>
        <p:spPr>
          <a:xfrm>
            <a:off x="8572500" y="5143500"/>
            <a:ext cx="2400300" cy="971550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7CFCD32-0AD6-49A8-8616-0E3F06E9FD92}"/>
              </a:ext>
            </a:extLst>
          </p:cNvPr>
          <p:cNvSpPr>
            <a:spLocks noGrp="1"/>
          </p:cNvSpPr>
          <p:nvPr/>
        </p:nvSpPr>
        <p:spPr>
          <a:xfrm>
            <a:off x="8724900" y="5314950"/>
            <a:ext cx="285750" cy="285750"/>
          </a:xfrm>
          <a:prstGeom prst="ellipse">
            <a:avLst/>
          </a:prstGeom>
          <a:solidFill>
            <a:srgbClr val="0B78C5"/>
          </a:solidFill>
          <a:ln w="0">
            <a:noFill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E8B4D1-5C96-46BF-8D92-C9230CBD5295}"/>
              </a:ext>
            </a:extLst>
          </p:cNvPr>
          <p:cNvSpPr>
            <a:spLocks noGrp="1"/>
          </p:cNvSpPr>
          <p:nvPr/>
        </p:nvSpPr>
        <p:spPr>
          <a:xfrm>
            <a:off x="8724900" y="5381625"/>
            <a:ext cx="28575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575A02-0FDC-4CEB-885D-C2C057B2556B}"/>
              </a:ext>
            </a:extLst>
          </p:cNvPr>
          <p:cNvSpPr>
            <a:spLocks noGrp="1"/>
          </p:cNvSpPr>
          <p:nvPr/>
        </p:nvSpPr>
        <p:spPr>
          <a:xfrm>
            <a:off x="9124950" y="5314950"/>
            <a:ext cx="16573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INTEROPERABILITY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7B633B3-B0D3-4E03-A333-6C4522A2E1CD}"/>
              </a:ext>
            </a:extLst>
          </p:cNvPr>
          <p:cNvSpPr>
            <a:spLocks noGrp="1"/>
          </p:cNvSpPr>
          <p:nvPr/>
        </p:nvSpPr>
        <p:spPr>
          <a:xfrm>
            <a:off x="9124950" y="5581650"/>
            <a:ext cx="16573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LADM / CityGML</a:t>
            </a:r>
          </a:p>
          <a:p>
            <a:pPr algn="l">
              <a:lnSpc>
                <a:spcPct val="103000"/>
              </a:lnSpc>
              <a:buNone/>
              <a:defRPr sz="900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exchange layer</a:t>
            </a:r>
          </a:p>
        </p:txBody>
      </p:sp>
      <p:cxnSp>
        <p:nvCxnSpPr>
          <p:cNvPr id="85" name="Straight Arrow Connector 84"/>
          <p:cNvCxnSpPr>
            <a:stCxn id="21" idx="3"/>
            <a:endCxn id="26" idx="1"/>
          </p:cNvCxnSpPr>
          <p:nvPr/>
        </p:nvCxnSpPr>
        <p:spPr>
          <a:xfrm>
            <a:off x="2857500" y="5629275"/>
            <a:ext cx="304800" cy="0"/>
          </a:xfrm>
          <a:prstGeom prst="straightConnector1">
            <a:avLst/>
          </a:prstGeom>
          <a:ln w="14288">
            <a:solidFill>
              <a:srgbClr val="0B78C5"/>
            </a:solidFill>
            <a:prstDash val="dash"/>
            <a:tailEnd type="triangle" w="sm" len="sm"/>
          </a:ln>
        </p:spPr>
      </p:cxnSp>
      <p:cxnSp>
        <p:nvCxnSpPr>
          <p:cNvPr id="86" name="Straight Arrow Connector 85"/>
          <p:cNvCxnSpPr>
            <a:stCxn id="26" idx="3"/>
            <a:endCxn id="31" idx="1"/>
          </p:cNvCxnSpPr>
          <p:nvPr/>
        </p:nvCxnSpPr>
        <p:spPr>
          <a:xfrm>
            <a:off x="5562600" y="5629275"/>
            <a:ext cx="304800" cy="0"/>
          </a:xfrm>
          <a:prstGeom prst="straightConnector1">
            <a:avLst/>
          </a:prstGeom>
          <a:ln w="14288">
            <a:solidFill>
              <a:srgbClr val="0B78C5"/>
            </a:solidFill>
            <a:prstDash val="dash"/>
            <a:tailEnd type="triangle" w="sm" len="sm"/>
          </a:ln>
        </p:spPr>
      </p:cxnSp>
      <p:cxnSp>
        <p:nvCxnSpPr>
          <p:cNvPr id="87" name="Straight Arrow Connector 86"/>
          <p:cNvCxnSpPr>
            <a:stCxn id="31" idx="3"/>
            <a:endCxn id="36" idx="1"/>
          </p:cNvCxnSpPr>
          <p:nvPr/>
        </p:nvCxnSpPr>
        <p:spPr>
          <a:xfrm>
            <a:off x="8267700" y="5629275"/>
            <a:ext cx="304800" cy="0"/>
          </a:xfrm>
          <a:prstGeom prst="straightConnector1">
            <a:avLst/>
          </a:prstGeom>
          <a:ln w="14288">
            <a:solidFill>
              <a:srgbClr val="0B78C5"/>
            </a:solidFill>
            <a:prstDash val="dash"/>
            <a:tailEnd type="triangle" w="sm" len="sm"/>
          </a:ln>
        </p:spPr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C9E1FAB-FB6D-4679-AAAA-35E8BF9AD827}"/>
              </a:ext>
            </a:extLst>
          </p:cNvPr>
          <p:cNvSpPr>
            <a:spLocks noGrp="1"/>
          </p:cNvSpPr>
          <p:nvPr/>
        </p:nvSpPr>
        <p:spPr>
          <a:xfrm>
            <a:off x="457200" y="6229350"/>
            <a:ext cx="112776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Adoption principle: add vertical child records without re-issuing the existing root ULPIN.</a:t>
            </a:r>
          </a:p>
        </p:txBody>
      </p:sp>
    </p:spTree>
    <p:extLst>
      <p:ext uri="{BB962C8B-B14F-4D97-AF65-F5344CB8AC3E}">
        <p14:creationId xmlns:p14="http://schemas.microsoft.com/office/powerpoint/2010/main" val="1684585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2620677-EDDE-40E5-9946-10E245D3CE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B78C5"/>
          </a:solidFill>
          <a:ln w="0">
            <a:solidFill>
              <a:srgbClr val="0B78C5"/>
            </a:solidFill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A451D60-8F13-438E-B8EE-59F47152F82D}"/>
              </a:ext>
            </a:extLst>
          </p:cNvPr>
          <p:cNvSpPr>
            <a:spLocks noGrp="1"/>
          </p:cNvSpPr>
          <p:nvPr/>
        </p:nvSpPr>
        <p:spPr>
          <a:xfrm>
            <a:off x="457200" y="22860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66E96B-FE58-4045-9897-0C1FA760D154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43000" cy="200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GeoGraph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F92372-83E2-4598-807F-8FF9E829F408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8858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Impact and reference base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A74D63-4D1B-49F2-A91A-FD95EB516403}"/>
              </a:ext>
            </a:extLst>
          </p:cNvPr>
          <p:cNvSpPr>
            <a:spLocks noGrp="1"/>
          </p:cNvSpPr>
          <p:nvPr/>
        </p:nvSpPr>
        <p:spPr>
          <a:xfrm>
            <a:off x="457200" y="11811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The value compounds when ownership, geometry and verification share one record.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83809" y="114300"/>
            <a:ext cx="1654132" cy="78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F3B0ACD-EAEF-4FCE-AE3D-525723A5B831}"/>
              </a:ext>
            </a:extLst>
          </p:cNvPr>
          <p:cNvSpPr>
            <a:spLocks noGrp="1"/>
          </p:cNvSpPr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0B3D6E"/>
          </a:solidFill>
          <a:ln w="0">
            <a:solidFill>
              <a:srgbClr val="0B3D6E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28263-2F0D-4123-B28E-B721386DC6C1}"/>
              </a:ext>
            </a:extLst>
          </p:cNvPr>
          <p:cNvSpPr>
            <a:spLocks noGrp="1"/>
          </p:cNvSpPr>
          <p:nvPr/>
        </p:nvSpPr>
        <p:spPr>
          <a:xfrm>
            <a:off x="457200" y="6638925"/>
            <a:ext cx="5715000" cy="152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INDIA HACKATHON 2026   |   TEAM GEOGRAPH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65B50-9A26-4DF4-8680-7EFD77BE4550}"/>
              </a:ext>
            </a:extLst>
          </p:cNvPr>
          <p:cNvSpPr>
            <a:spLocks noGrp="1"/>
          </p:cNvSpPr>
          <p:nvPr/>
        </p:nvSpPr>
        <p:spPr>
          <a:xfrm>
            <a:off x="11239500" y="6619875"/>
            <a:ext cx="4953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17185A-55B0-4F8A-81A8-5F138B267516}"/>
              </a:ext>
            </a:extLst>
          </p:cNvPr>
          <p:cNvSpPr>
            <a:spLocks noGrp="1"/>
          </p:cNvSpPr>
          <p:nvPr/>
        </p:nvSpPr>
        <p:spPr>
          <a:xfrm>
            <a:off x="457200" y="16764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2C563E-37F9-4F85-A098-BB8424693CA3}"/>
              </a:ext>
            </a:extLst>
          </p:cNvPr>
          <p:cNvSpPr>
            <a:spLocks noGrp="1"/>
          </p:cNvSpPr>
          <p:nvPr/>
        </p:nvSpPr>
        <p:spPr>
          <a:xfrm>
            <a:off x="457200" y="1943100"/>
            <a:ext cx="22479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311A5F-7908-4D0E-842F-2CA3FB598FD1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2100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B22693-579E-44E0-A5C0-8B5993513D01}"/>
              </a:ext>
            </a:extLst>
          </p:cNvPr>
          <p:cNvSpPr>
            <a:spLocks noGrp="1"/>
          </p:cNvSpPr>
          <p:nvPr/>
        </p:nvSpPr>
        <p:spPr>
          <a:xfrm>
            <a:off x="609600" y="25146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States &amp; UTs already on ULPIN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BA6D46-CD3B-4750-879E-6B3C7207167E}"/>
              </a:ext>
            </a:extLst>
          </p:cNvPr>
          <p:cNvSpPr>
            <a:spLocks noGrp="1"/>
          </p:cNvSpPr>
          <p:nvPr/>
        </p:nvSpPr>
        <p:spPr>
          <a:xfrm>
            <a:off x="2895600" y="1943100"/>
            <a:ext cx="22479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6B9047-B3A1-4EAD-BC10-47B1DA4658C1}"/>
              </a:ext>
            </a:extLst>
          </p:cNvPr>
          <p:cNvSpPr>
            <a:spLocks noGrp="1"/>
          </p:cNvSpPr>
          <p:nvPr/>
        </p:nvSpPr>
        <p:spPr>
          <a:xfrm>
            <a:off x="3048000" y="2095500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2100" b="1" i="0">
                <a:solidFill>
                  <a:srgbClr val="0E8B8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E8B83"/>
                </a:solidFill>
                <a:latin typeface="Arial"/>
                <a:ea typeface="Arial"/>
                <a:cs typeface="Arial"/>
              </a:rPr>
              <a:t>±3 cm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CE4F49-6350-4B44-8AFA-A7C47FE5F537}"/>
              </a:ext>
            </a:extLst>
          </p:cNvPr>
          <p:cNvSpPr>
            <a:spLocks noGrp="1"/>
          </p:cNvSpPr>
          <p:nvPr/>
        </p:nvSpPr>
        <p:spPr>
          <a:xfrm>
            <a:off x="3048000" y="25146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CORS / RTK positioning cited in the source deck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54A7CB-9B0B-40C8-B7B6-3931C9E716DF}"/>
              </a:ext>
            </a:extLst>
          </p:cNvPr>
          <p:cNvSpPr>
            <a:spLocks noGrp="1"/>
          </p:cNvSpPr>
          <p:nvPr/>
        </p:nvSpPr>
        <p:spPr>
          <a:xfrm>
            <a:off x="5334000" y="1943100"/>
            <a:ext cx="22479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4EC5FD-4607-455E-9D35-553CE583174A}"/>
              </a:ext>
            </a:extLst>
          </p:cNvPr>
          <p:cNvSpPr>
            <a:spLocks noGrp="1"/>
          </p:cNvSpPr>
          <p:nvPr/>
        </p:nvSpPr>
        <p:spPr>
          <a:xfrm>
            <a:off x="5486400" y="2095500"/>
            <a:ext cx="1943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2100" b="1" i="0">
                <a:solidFill>
                  <a:srgbClr val="F08A2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08A24"/>
                </a:solidFill>
                <a:latin typeface="Arial"/>
                <a:ea typeface="Arial"/>
                <a:cs typeface="Arial"/>
              </a:rPr>
              <a:t>OFFLINE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FF4DB0-A3BC-4F4C-B81C-40FBFD82C12D}"/>
              </a:ext>
            </a:extLst>
          </p:cNvPr>
          <p:cNvSpPr>
            <a:spLocks noGrp="1"/>
          </p:cNvSpPr>
          <p:nvPr/>
        </p:nvSpPr>
        <p:spPr>
          <a:xfrm>
            <a:off x="5486400" y="2514600"/>
            <a:ext cx="19431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ID validation without a registry lookup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4"/>
          <a:srcRect t="4772" b="4772"/>
          <a:stretch>
            <a:fillRect/>
          </a:stretch>
        </p:blipFill>
        <p:spPr>
          <a:xfrm>
            <a:off x="8001000" y="1943100"/>
            <a:ext cx="3733800" cy="1866900"/>
          </a:xfrm>
          <a:prstGeom prst="roundRect">
            <a:avLst>
              <a:gd name="adj" fmla="val 9184"/>
            </a:avLst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B149DC4-13D2-47A8-9F52-63561C718E70}"/>
              </a:ext>
            </a:extLst>
          </p:cNvPr>
          <p:cNvSpPr>
            <a:spLocks noGrp="1"/>
          </p:cNvSpPr>
          <p:nvPr/>
        </p:nvSpPr>
        <p:spPr>
          <a:xfrm>
            <a:off x="8115300" y="3848100"/>
            <a:ext cx="35052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 fontScale="87504"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A parcel record that names the volume you bought, financed or regulated.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2513D59-D286-4293-8577-7A7FCB35C4F3}"/>
              </a:ext>
            </a:extLst>
          </p:cNvPr>
          <p:cNvSpPr>
            <a:spLocks noGrp="1"/>
          </p:cNvSpPr>
          <p:nvPr/>
        </p:nvSpPr>
        <p:spPr>
          <a:xfrm>
            <a:off x="457200" y="4095750"/>
            <a:ext cx="5429250" cy="180975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1430">
            <a:solidFill>
              <a:srgbClr val="BFD6E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CF1263-96C6-4AB1-8117-4196AE94BE4A}"/>
              </a:ext>
            </a:extLst>
          </p:cNvPr>
          <p:cNvSpPr>
            <a:spLocks noGrp="1"/>
          </p:cNvSpPr>
          <p:nvPr/>
        </p:nvSpPr>
        <p:spPr>
          <a:xfrm>
            <a:off x="685800" y="432435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3D6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B3D6E"/>
                </a:solidFill>
                <a:latin typeface="Arial"/>
                <a:ea typeface="Arial"/>
                <a:cs typeface="Arial"/>
              </a:rPr>
              <a:t>CITIZENS, HOUSING SOCIETIES AND ULBS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81EA5F-F92A-485D-B7B5-9B22B0657F86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49149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Flats, parking, basements and common areas get explicit volumetric records.</a:t>
            </a:r>
          </a:p>
          <a:p>
            <a:pPr algn="l">
              <a:lnSpc>
                <a:spcPct val="113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Boundary disputes become checkable geometry instead of competing descriptions.</a:t>
            </a:r>
          </a:p>
          <a:p>
            <a:pPr algn="l">
              <a:lnSpc>
                <a:spcPct val="113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A shared identifier gives owners, tenants and local bodies the same reference.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06E874E-B3E0-4607-B48D-B5034436BB86}"/>
              </a:ext>
            </a:extLst>
          </p:cNvPr>
          <p:cNvSpPr>
            <a:spLocks noGrp="1"/>
          </p:cNvSpPr>
          <p:nvPr/>
        </p:nvSpPr>
        <p:spPr>
          <a:xfrm>
            <a:off x="6115050" y="4095750"/>
            <a:ext cx="5619750" cy="1809750"/>
          </a:xfrm>
          <a:prstGeom prst="roundRect">
            <a:avLst>
              <a:gd name="adj" fmla="val 9474"/>
            </a:avLst>
          </a:prstGeom>
          <a:solidFill>
            <a:srgbClr val="E7F4ED"/>
          </a:solidFill>
          <a:ln w="11430">
            <a:solidFill>
              <a:srgbClr val="B8DCC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7FC8C0D-EEB7-4B08-B811-27CC7E5CFC2B}"/>
              </a:ext>
            </a:extLst>
          </p:cNvPr>
          <p:cNvSpPr>
            <a:spLocks noGrp="1"/>
          </p:cNvSpPr>
          <p:nvPr/>
        </p:nvSpPr>
        <p:spPr>
          <a:xfrm>
            <a:off x="6343650" y="4324350"/>
            <a:ext cx="51625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18794E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794E"/>
                </a:solidFill>
                <a:latin typeface="Arial"/>
                <a:ea typeface="Arial"/>
                <a:cs typeface="Arial"/>
              </a:rPr>
              <a:t>BANKS, INSURERS AND GOVERNANCE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11E846-0554-4D2E-96B3-6AE8C7970647}"/>
              </a:ext>
            </a:extLst>
          </p:cNvPr>
          <p:cNvSpPr>
            <a:spLocks noGrp="1"/>
          </p:cNvSpPr>
          <p:nvPr/>
        </p:nvSpPr>
        <p:spPr>
          <a:xfrm>
            <a:off x="6343650" y="4667250"/>
            <a:ext cx="51244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38100" tIns="38100" rIns="38100" bIns="38100" anchor="t">
            <a:normAutofit/>
          </a:bodyPr>
          <a:lstStyle/>
          <a:p>
            <a:pPr algn="l">
              <a:lnSpc>
                <a:spcPct val="113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Air rights and TDR gain a register entry that can be audited.</a:t>
            </a:r>
          </a:p>
          <a:p>
            <a:pPr algn="l">
              <a:lnSpc>
                <a:spcPct val="113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Double-mortgaging the same cubic metres becomes a geometry query.</a:t>
            </a:r>
          </a:p>
          <a:p>
            <a:pPr algn="l">
              <a:lnSpc>
                <a:spcPct val="113000"/>
              </a:lnSpc>
              <a:buNone/>
              <a:defRPr sz="10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•  FSI, height, daylight and underground utility checks get a spatial record.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3B0728-F966-4871-B4F6-585D7B888E3D}"/>
              </a:ext>
            </a:extLst>
          </p:cNvPr>
          <p:cNvSpPr>
            <a:spLocks noGrp="1"/>
          </p:cNvSpPr>
          <p:nvPr/>
        </p:nvSpPr>
        <p:spPr>
          <a:xfrm>
            <a:off x="457200" y="6096000"/>
            <a:ext cx="17145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825" b="1" i="0">
                <a:solidFill>
                  <a:srgbClr val="0B78C5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0B78C5"/>
                </a:solidFill>
                <a:latin typeface="Arial"/>
                <a:ea typeface="Arial"/>
                <a:cs typeface="Arial"/>
              </a:rPr>
              <a:t>REFERENCE BASE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9A97AE-5E10-476F-BE67-1850834DE715}"/>
              </a:ext>
            </a:extLst>
          </p:cNvPr>
          <p:cNvSpPr>
            <a:spLocks noGrp="1"/>
          </p:cNvSpPr>
          <p:nvPr/>
        </p:nvSpPr>
        <p:spPr>
          <a:xfrm>
            <a:off x="2228850" y="6096000"/>
            <a:ext cx="95059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825" b="0" i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2677A"/>
                </a:solidFill>
                <a:latin typeface="Arial"/>
                <a:ea typeface="Arial"/>
                <a:cs typeface="Arial"/>
              </a:rPr>
              <a:t>DoLR ULPIN / Bhu-Aadhaar  ·  Survey of India CORS  ·  SIH PS 26011  ·  ISO 19152-1 / 2  ·  OGC CityGML 3.0</a:t>
            </a:r>
          </a:p>
        </p:txBody>
      </p:sp>
    </p:spTree>
    <p:extLst>
      <p:ext uri="{BB962C8B-B14F-4D97-AF65-F5344CB8AC3E}">
        <p14:creationId xmlns:p14="http://schemas.microsoft.com/office/powerpoint/2010/main" val="19916808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PresentationFormat>Widescreen</PresentationFormat>
  <Slides>6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ChatGPT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Goutam Sharma</cp:lastModifiedBy>
  <cp:revision>2</cp:revision>
  <dcterms:created xsi:type="dcterms:W3CDTF">2026-09-21T08:50:55Z</dcterms:created>
  <dcterms:modified xsi:type="dcterms:W3CDTF">2026-09-21T09:11:31Z</dcterms:modified>
</cp:coreProperties>
</file>